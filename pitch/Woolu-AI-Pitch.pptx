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1476c5a0-0a64-cbde-5324-74cd8584a82b}">
          <p14:sldIdLst>
            <p14:sldId id="256"/>
          </p14:sldIdLst>
        </p14:section>
        <p14:section name="Problème et solution" id="{7baa59cd-5795-6872-b921-14de4d2466f5}">
          <p14:sldIdLst>
            <p14:sldId id="257"/>
            <p14:sldId id="258"/>
            <p14:sldId id="259"/>
          </p14:sldIdLst>
        </p14:section>
        <p14:section name="Marché et modèle" id="{4bfcea91-8755-31e8-4bbf-5c8c1566a62f}">
          <p14:sldIdLst>
            <p14:sldId id="260"/>
            <p14:sldId id="261"/>
            <p14:sldId id="262"/>
          </p14:sldIdLst>
        </p14:section>
        <p14:section name="Preuves et équipe" id="{5e491494-83a3-eb68-3ef1-bc4cf5a915bc}">
          <p14:sldIdLst>
            <p14:sldId id="263"/>
            <p14:sldId id="264"/>
          </p14:sldIdLst>
        </p14:section>
        <p14:section name="Demande" id="{cf6ebf91-0da4-01ad-d22c-ccc5a2b6de96}">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Fonds</c:v>
                </c:pt>
              </c:strCache>
            </c:strRef>
          </c:tx>
          <c:spPr>
            <a:solidFill>
              <a:schemeClr val="accent1"/>
            </a:solidFill>
            <a:ln w="9525" cap="flat">
              <a:solidFill>
                <a:srgbClr val="F9F9F9"/>
              </a:solidFill>
              <a:prstDash val="solid"/>
              <a:round/>
            </a:ln>
            <a:effectLst/>
          </c:spPr>
          <c:dPt>
            <c:idx val="0"/>
            <c:bubble3D val="0"/>
            <c:spPr>
              <a:solidFill>
                <a:srgbClr val="F2A93B"/>
              </a:solidFill>
              <a:ln w="25400" cap="flat">
                <a:solidFill>
                  <a:srgbClr val="064538"/>
                </a:solidFill>
                <a:prstDash val="solid"/>
                <a:round/>
              </a:ln>
              <a:effectLst/>
            </c:spPr>
          </c:dPt>
          <c:dPt>
            <c:idx val="1"/>
            <c:bubble3D val="0"/>
            <c:spPr>
              <a:solidFill>
                <a:srgbClr val="3CCB9F"/>
              </a:solidFill>
              <a:ln w="25400" cap="flat">
                <a:solidFill>
                  <a:srgbClr val="064538"/>
                </a:solidFill>
                <a:prstDash val="solid"/>
                <a:round/>
              </a:ln>
              <a:effectLst/>
            </c:spPr>
          </c:dPt>
          <c:dPt>
            <c:idx val="2"/>
            <c:bubble3D val="0"/>
            <c:spPr>
              <a:solidFill>
                <a:srgbClr val="CFE9E0"/>
              </a:solidFill>
              <a:ln w="25400" cap="flat">
                <a:solidFill>
                  <a:srgbClr val="064538"/>
                </a:solidFill>
                <a:prstDash val="solid"/>
                <a:round/>
              </a:ln>
              <a:effectLst/>
            </c:spPr>
          </c:dPt>
          <c:dPt>
            <c:idx val="3"/>
            <c:bubble3D val="0"/>
            <c:spPr>
              <a:solidFill>
                <a:srgbClr val="7FA79A"/>
              </a:solidFill>
              <a:ln w="25400" cap="flat">
                <a:solidFill>
                  <a:srgbClr val="064538"/>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Produit et IA</c:v>
                </c:pt>
                <c:pt idx="1">
                  <c:v>Pilotes terrain</c:v>
                </c:pt>
                <c:pt idx="2">
                  <c:v>Conformité données</c:v>
                </c:pt>
                <c:pt idx="3">
                  <c:v>Infrastructure</c:v>
                </c:pt>
              </c:strCache>
            </c:strRef>
          </c:cat>
          <c:val>
            <c:numRef>
              <c:f>Sheet1!$B$2:$B$5</c:f>
              <c:numCache>
                <c:ptCount val="4"/>
                <c:pt idx="0">
                  <c:v>40</c:v>
                </c:pt>
                <c:pt idx="1">
                  <c:v>30</c:v>
                </c:pt>
                <c:pt idx="2">
                  <c:v>15</c:v>
                </c:pt>
                <c:pt idx="3">
                  <c:v>15</c:v>
                </c:pt>
              </c:numCache>
            </c:numRef>
          </c:val>
        </c:ser>
        <c:firstSliceAng val="0"/>
        <c:holeSize val="64"/>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sommes Harouna, Khadija et Papa Abdoulaye, et voici Woolu AI. En wolof, wóolu signifie « faire confiance ». C'est notre mission : redonner confiance aux utilisateurs de mobile money quand quelque chose tourne mal. Un SMS qui réclame votre code, un transfert débité qui n'arrive jamais, un commerçant qui dit n'avoir rien reçu. Notre promesse tient en trois mots : comprendre ce qui se passe, sécuriser son compte, et résoudre le problème avec un vrai dossier de réclamation. Pendant les huit prochaines minutes, je vais vous montrer pourquoi c'est urgent, comment ça marche en direct, et ce dont nous avons besoin pour passer au pilote.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2017, la police sénégalaise recevait environ 70 plaintes par an pour escroquerie au mobile money. En 2022, plus de 1 000. Quatorze fois plus en cinq ans. Et ces plaintes ne sont que la partie visible : beaucoup de victimes ne portent jamais plainte, parce qu'elles ne savent pas à qui s'adresser ni quoi fournir. Le vrai problème n'est pas seulement l'arnaque. C'est ce qui se passe après : la victime reste seule, sans explication, sans démarche claire, sans dossier exploitable. Et c'est pareil pour les incidents sans fraude : un transfert bloqué, un paiement contesté.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Woolu AI fait trois choses. D'abord, analyser : l'utilisateur décrit son problème, colle le SMS ou importe une capture. L'IA identifie le type d'incident, estime le risque et explique les indices en langage simple. Ensuite, guider : les bons réflexes immédiats, puis un parcours étape par étape. Enfin, résoudre : Woolu génère un dossier structuré et une lettre de réclamation en PDF, que l'utilisateur envoie lui-même au service officiel. Deux garde-fous non négociables : Woolu ne demande jamais de code, et ne conserve rien sur nos serveurs.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produit, tel qu'il tourne aujourd'hui, branché sur l'IA. Premier écran : l'utilisateur choisit comment entrer son incident. Il peut décrire, coller un SMS ou importer une capture, lue directement sur le téléphone. Deuxième écran : le résultat. Risque élevé, en rouge, avec ce qu'il faut faire tout de suite. Les badges « règle de sécurité » ne dépendent pas de l'IA : ce sont des règles fixes, elles s'affichent toujours. Troisième écran : le parcours guidé, étape par étape, jusqu'au dossier PDF. Je vous propose maintenant de le faire en direct. [Lancer le test 1 : la fausse loterie.]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marché est massif et documenté. Selon la BCEAO, l'UEMOA comptait 248 millions de comptes de monnaie électronique fin 2024. Le Sénégal en représente 17 %, soit environ 42 millions de comptes, et environ 30 % de la valeur des transactions de l'Union. Notre objectif à trois ans est volontairement prudent : 200 000 utilisateurs actifs, via une dizaine d'institutions partenaires. C'est une estimation, que nos pilotes vont valider. Et chaque incident résolu, c'est de la confiance gagnée pour tout l'écosystème.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modèle est B2B2C. Pour les particuliers, c'est gratuit : c'est la condition de l'adoption et de l'inclusion. Nous facturons les institutions qui gèrent des clients ou des réclamations : microfinances, associations de consommateurs, structures d'accompagnement des commerçants. Une licence à 150 000 FCFA par mois leur donne un tableau de bord et Woolu à leurs couleurs. Pour les services clients et les opérateurs, une API à 50 FCFA par dossier structuré. Côté coûts, une analyse IA nous coûte moins d'un franc CFA d'après les tarifs publics de Groq : nous visons environ 85 % de marge brute. Ces chiffres sont des estimations à valider en pilote.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premier segment : les clients des institutions de microfinance à Dakar et Thiès. Ce sont des utilisateurs actifs du mobile money, déjà accompagnés par une institution qui a intérêt à réduire les litiges. Trois canaux : les agences des IMF partenaires, les associations de consommateurs, et les groupes WhatsApp de commerçants, où les arnaques circulent le plus. Notre plan à 90 jours : vingt entretiens utilisateurs et un jeu de cent cas annotés le premier mois ; un pilote avec une IMF et 500 utilisateurs le deuxième ; et un premier contrat payant au troisième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Où en sommes-nous ? Un MVP fonctionnel, en web et sur mobile, branché sur une vraie IA. Nous l'avons testé sur cinq scénarios réalistes. Et aucune donnée n'est conservée côté serveur. Nous n'avons pas encore d'utilisateurs payants : c'est précisément l'objet du pilote. Face à nous : le service client de l'opérateur aide, mais il n'est pas neutre et ne produit pas de dossier. Les applications anti-spam bloquent des numéros, mais n'accompagnent pas après l'incident. La plateforme de la police reçoit les plaintes, mais n'explique rien. Woolu est le seul de ce tableau à couvrir tout le parcours, de l'alerte jusqu'au dossier, de façon indépendante.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équipe couvre exactement les trois compétences dont Woolu a besoin. Harouna, data scientist et data analyst, conçoit l'analyse IA, les règles de détection et la mesure de leur fiabilité. Khadija, ingénieure financière et data scientist, porte le modèle économique, la compréhension des produits financiers et l'analyse des risques. Papa Abdoulaye, computer scientist, construit l'architecture, l'application web et mobile, et la sécurité. Ensemble, nous avons livré un produit fonctionnel de bout en bout pendant ce hackathon.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demandons 25 millions de francs CFA pour douze mois. 40 % pour le produit et l'IA : lecture des captures, langue wolof et jeu de test annoté. 30 % pour les pilotes sur le terrain avec nos partenaires. 15 % pour la conformité et la protection des données personnelles. 15 % pour l'infrastructure. Nos jalons : un pilote avec une IMF à trois mois, mille utilisateurs à six mois, et trois partenaires payants à douze mois. Notre vision : que chaque utilisateur de mobile money en Afrique de l'Ouest ait un allié face aux arnaques et aux litiges. Le code est ouvert sur GitHub. Merci, nous sommes prêts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240280"/>
            <a:ext cx="7315200" cy="118872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OMB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11887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pic>
        <p:nvPicPr>
          <p:cNvPr id="3" name="Image 0" descr="C:\Users\DELL\AppData\Local\Temp\claude\c--MesProjets-Woolu-AI\8d19d69f-7b2a-4c76-a2dd-ac8270f9cd4f\scratchpad\deck\assets\logo.png">    </p:cNvPr>
          <p:cNvPicPr>
            <a:picLocks noChangeAspect="1"/>
          </p:cNvPicPr>
          <p:nvPr/>
        </p:nvPicPr>
        <p:blipFill>
          <a:blip r:embed="rId1"/>
          <a:stretch>
            <a:fillRect/>
          </a:stretch>
        </p:blipFill>
        <p:spPr>
          <a:xfrm>
            <a:off x="548640" y="6336792"/>
            <a:ext cx="256032" cy="256032"/>
          </a:xfrm>
          <a:prstGeom prst="rect">
            <a:avLst/>
          </a:prstGeom>
        </p:spPr>
      </p:pic>
      <p:sp>
        <p:nvSpPr>
          <p:cNvPr id="4" name="Text 0"/>
          <p:cNvSpPr/>
          <p:nvPr/>
        </p:nvSpPr>
        <p:spPr>
          <a:xfrm>
            <a:off x="896112" y="6309360"/>
            <a:ext cx="1828800" cy="310896"/>
          </a:xfrm>
          <a:prstGeom prst="rect">
            <a:avLst/>
          </a:prstGeom>
          <a:noFill/>
          <a:ln/>
        </p:spPr>
        <p:txBody>
          <a:bodyPr wrap="square" lIns="0" tIns="0" rIns="0" bIns="0" rtlCol="0" anchor="ctr"/>
          <a:lstStyle/>
          <a:p>
            <a:pPr indent="0" marL="0">
              <a:buNone/>
            </a:pPr>
            <a:r>
              <a:rPr lang="en-US" sz="1100" dirty="0">
                <a:solidFill>
                  <a:schemeClr val="accent5"/>
                </a:solidFill>
              </a:rPr>
              <a:t>Woolu AI</a:t>
            </a:r>
            <a:endParaRPr lang="en-US" sz="1100" dirty="0"/>
          </a:p>
        </p:txBody>
      </p:sp>
      <p:sp>
        <p:nvSpPr>
          <p:cNvPr id="25" name="Slide Number Placeholder 0"/>
          <p:cNvSpPr>
            <a:spLocks noGrp="1"/>
          </p:cNvSpPr>
          <p:nvPr>
            <p:ph type="sldNum" sz="quarter" idx="4294967295"/>
          </p:nvPr>
        </p:nvSpPr>
        <p:spPr>
          <a:xfrm>
            <a:off x="11094415" y="6309360"/>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CFE9E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AIR">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11887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pic>
        <p:nvPicPr>
          <p:cNvPr id="3" name="Image 0" descr="C:\Users\DELL\AppData\Local\Temp\claude\c--MesProjets-Woolu-AI\8d19d69f-7b2a-4c76-a2dd-ac8270f9cd4f\scratchpad\deck\assets\logo.png">    </p:cNvPr>
          <p:cNvPicPr>
            <a:picLocks noChangeAspect="1"/>
          </p:cNvPicPr>
          <p:nvPr/>
        </p:nvPicPr>
        <p:blipFill>
          <a:blip r:embed="rId1"/>
          <a:stretch>
            <a:fillRect/>
          </a:stretch>
        </p:blipFill>
        <p:spPr>
          <a:xfrm>
            <a:off x="548640" y="6336792"/>
            <a:ext cx="256032" cy="256032"/>
          </a:xfrm>
          <a:prstGeom prst="rect">
            <a:avLst/>
          </a:prstGeom>
        </p:spPr>
      </p:pic>
      <p:sp>
        <p:nvSpPr>
          <p:cNvPr id="4" name="Text 0"/>
          <p:cNvSpPr/>
          <p:nvPr/>
        </p:nvSpPr>
        <p:spPr>
          <a:xfrm>
            <a:off x="896112" y="6309360"/>
            <a:ext cx="1828800" cy="310896"/>
          </a:xfrm>
          <a:prstGeom prst="rect">
            <a:avLst/>
          </a:prstGeom>
          <a:noFill/>
          <a:ln/>
        </p:spPr>
        <p:txBody>
          <a:bodyPr wrap="square" lIns="0" tIns="0" rIns="0" bIns="0" rtlCol="0" anchor="ctr"/>
          <a:lstStyle/>
          <a:p>
            <a:pPr indent="0" marL="0">
              <a:buNone/>
            </a:pPr>
            <a:r>
              <a:rPr lang="en-US" sz="1100" dirty="0">
                <a:solidFill>
                  <a:schemeClr val="accent4"/>
                </a:solidFill>
              </a:rPr>
              <a:t>Woolu AI</a:t>
            </a:r>
            <a:endParaRPr lang="en-US" sz="1100" dirty="0"/>
          </a:p>
        </p:txBody>
      </p:sp>
      <p:sp>
        <p:nvSpPr>
          <p:cNvPr id="25" name="Slide Number Placeholder 0"/>
          <p:cNvSpPr>
            <a:spLocks noGrp="1"/>
          </p:cNvSpPr>
          <p:nvPr>
            <p:ph type="sldNum" sz="quarter" idx="4294967295"/>
          </p:nvPr>
        </p:nvSpPr>
        <p:spPr>
          <a:xfrm>
            <a:off x="11094415" y="6309360"/>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5B6B7A"/>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09360"/>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CFE9E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harounambaye/Woolu-AI" TargetMode="External"/><Relationship Id="rId1" Type="http://schemas.openxmlformats.org/officeDocument/2006/relationships/chart" Target="/ppt/charts/chart1.xml"/><Relationship Id="rId2" Type="http://schemas.openxmlformats.org/officeDocument/2006/relationships/image" Target="../media/image-10-1.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ouclier-decor" descr="C:\Users\DELL\AppData\Local\Temp\claude\c--MesProjets-Woolu-AI\8d19d69f-7b2a-4c76-a2dd-ac8270f9cd4f\scratchpad\deck\assets\i-shieldCheck-w.png">    </p:cNvPr>
          <p:cNvPicPr>
            <a:picLocks noChangeAspect="1"/>
          </p:cNvPicPr>
          <p:nvPr/>
        </p:nvPicPr>
        <p:blipFill>
          <a:blip r:embed="rId1">
            <a:alphaModFix amt="8000"/>
          </a:blip>
          <a:stretch>
            <a:fillRect/>
          </a:stretch>
        </p:blipFill>
        <p:spPr>
          <a:xfrm>
            <a:off x="7498080" y="640080"/>
            <a:ext cx="5669280" cy="5669280"/>
          </a:xfrm>
          <a:prstGeom prst="rect">
            <a:avLst/>
          </a:prstGeom>
        </p:spPr>
      </p:pic>
      <p:pic>
        <p:nvPicPr>
          <p:cNvPr id="3" name="logo" descr="C:\Users\DELL\AppData\Local\Temp\claude\c--MesProjets-Woolu-AI\8d19d69f-7b2a-4c76-a2dd-ac8270f9cd4f\scratchpad\deck\assets\logo.png">    </p:cNvPr>
          <p:cNvPicPr>
            <a:picLocks noChangeAspect="1"/>
          </p:cNvPicPr>
          <p:nvPr/>
        </p:nvPicPr>
        <p:blipFill>
          <a:blip r:embed="rId2"/>
          <a:stretch>
            <a:fillRect/>
          </a:stretch>
        </p:blipFill>
        <p:spPr>
          <a:xfrm>
            <a:off x="731520" y="1051560"/>
            <a:ext cx="1005840" cy="1005840"/>
          </a:xfrm>
          <a:prstGeom prst="rect">
            <a:avLst/>
          </a:prstGeom>
        </p:spPr>
      </p:pic>
      <p:sp>
        <p:nvSpPr>
          <p:cNvPr id="4" name="Text 0"/>
          <p:cNvSpPr/>
          <p:nvPr>
            <p:ph idx="100" type="title" hasCustomPrompt="1"/>
          </p:nvPr>
        </p:nvSpPr>
        <p:spPr>
          <a:xfrm>
            <a:off x="731520" y="2240280"/>
            <a:ext cx="7315200" cy="1188720"/>
          </a:xfrm>
          <a:prstGeom prst="rect">
            <a:avLst/>
          </a:prstGeom>
          <a:noFill/>
          <a:ln/>
        </p:spPr>
        <p:txBody>
          <a:bodyPr wrap="square" lIns="0" tIns="0" rIns="0" bIns="0" rtlCol="0" anchor="t"/>
          <a:lstStyle/>
          <a:p>
            <a:pPr algn="l" indent="0" marL="0">
              <a:buNone/>
            </a:pPr>
            <a:r>
              <a:rPr lang="en-US" sz="6600" b="1" dirty="0">
                <a:solidFill>
                  <a:schemeClr val="bg1"/>
                </a:solidFill>
              </a:rPr>
              <a:t>Woolu </a:t>
            </a:r>
            <a:pPr algn="l" indent="0" marL="0">
              <a:buNone/>
            </a:pPr>
            <a:r>
              <a:rPr lang="en-US" sz="6600" b="1" dirty="0">
                <a:solidFill>
                  <a:schemeClr val="accent2"/>
                </a:solidFill>
              </a:rPr>
              <a:t>AI</a:t>
            </a:r>
            <a:endParaRPr lang="en-US" sz="6600" dirty="0"/>
          </a:p>
        </p:txBody>
      </p:sp>
      <p:sp>
        <p:nvSpPr>
          <p:cNvPr id="5" name="Text 1"/>
          <p:cNvSpPr txBox="1"/>
          <p:nvPr/>
        </p:nvSpPr>
        <p:spPr>
          <a:xfrm>
            <a:off x="731520" y="3429000"/>
            <a:ext cx="7315200" cy="548640"/>
          </a:xfrm>
          <a:prstGeom prst="rect">
            <a:avLst/>
          </a:prstGeom>
          <a:noFill/>
          <a:ln/>
        </p:spPr>
        <p:txBody>
          <a:bodyPr wrap="square" lIns="0" tIns="0" rIns="0" bIns="0" rtlCol="0" anchor="ctr"/>
          <a:lstStyle/>
          <a:p>
            <a:pPr indent="0" marL="0">
              <a:buNone/>
            </a:pPr>
            <a:r>
              <a:rPr lang="en-US" sz="2600" dirty="0">
                <a:solidFill>
                  <a:schemeClr val="accent5"/>
                </a:solidFill>
                <a:latin typeface="+mj-lt" pitchFamily="34" charset="0"/>
                <a:ea typeface="+mj-lt" pitchFamily="34" charset="-122"/>
                <a:cs typeface="+mj-lt" pitchFamily="34" charset="-120"/>
              </a:rPr>
              <a:t>Comprendre. Sécuriser. Résoudre.</a:t>
            </a:r>
            <a:endParaRPr lang="en-US" sz="2600" dirty="0"/>
          </a:p>
        </p:txBody>
      </p:sp>
      <p:sp>
        <p:nvSpPr>
          <p:cNvPr id="6" name="Text 2"/>
          <p:cNvSpPr txBox="1"/>
          <p:nvPr/>
        </p:nvSpPr>
        <p:spPr>
          <a:xfrm>
            <a:off x="731520" y="4069080"/>
            <a:ext cx="6766560" cy="822960"/>
          </a:xfrm>
          <a:prstGeom prst="rect">
            <a:avLst/>
          </a:prstGeom>
          <a:noFill/>
          <a:ln/>
        </p:spPr>
        <p:txBody>
          <a:bodyPr wrap="square" lIns="0" tIns="0" rIns="0" bIns="0" rtlCol="0" anchor="ctr"/>
          <a:lstStyle/>
          <a:p>
            <a:pPr indent="0" marL="0">
              <a:buNone/>
            </a:pPr>
            <a:r>
              <a:rPr lang="en-US" sz="1800" dirty="0">
                <a:solidFill>
                  <a:schemeClr val="bg1"/>
                </a:solidFill>
              </a:rPr>
              <a:t>L'assistant IA qui transforme un incident mobile money en réclamation</a:t>
            </a:r>
            <a:endParaRPr lang="en-US" sz="1800" dirty="0"/>
          </a:p>
        </p:txBody>
      </p:sp>
      <p:sp>
        <p:nvSpPr>
          <p:cNvPr id="7" name="Text 3"/>
          <p:cNvSpPr txBox="1"/>
          <p:nvPr/>
        </p:nvSpPr>
        <p:spPr>
          <a:xfrm>
            <a:off x="731520" y="5349240"/>
            <a:ext cx="8229600" cy="365760"/>
          </a:xfrm>
          <a:prstGeom prst="rect">
            <a:avLst/>
          </a:prstGeom>
          <a:noFill/>
          <a:ln/>
        </p:spPr>
        <p:txBody>
          <a:bodyPr wrap="square" lIns="0" tIns="0" rIns="0" bIns="0" rtlCol="0" anchor="ctr"/>
          <a:lstStyle/>
          <a:p>
            <a:pPr indent="0" marL="0">
              <a:buNone/>
            </a:pPr>
            <a:r>
              <a:rPr lang="en-US" sz="1500" b="1" dirty="0">
                <a:solidFill>
                  <a:schemeClr val="bg1"/>
                </a:solidFill>
              </a:rPr>
              <a:t>Harouna MBAYE  ·  Khadija NGOM  ·  Papa Abdoulaye NDIAYE</a:t>
            </a:r>
            <a:endParaRPr lang="en-US" sz="1500" dirty="0"/>
          </a:p>
        </p:txBody>
      </p:sp>
      <p:sp>
        <p:nvSpPr>
          <p:cNvPr id="8" name="Text 4"/>
          <p:cNvSpPr txBox="1"/>
          <p:nvPr/>
        </p:nvSpPr>
        <p:spPr>
          <a:xfrm>
            <a:off x="731520" y="5760720"/>
            <a:ext cx="8229600" cy="320040"/>
          </a:xfrm>
          <a:prstGeom prst="rect">
            <a:avLst/>
          </a:prstGeom>
          <a:noFill/>
          <a:ln/>
        </p:spPr>
        <p:txBody>
          <a:bodyPr wrap="square" lIns="0" tIns="0" rIns="0" bIns="0" rtlCol="0" anchor="ctr"/>
          <a:lstStyle/>
          <a:p>
            <a:pPr indent="0" marL="0">
              <a:buNone/>
            </a:pPr>
            <a:r>
              <a:rPr lang="en-US" sz="1200" dirty="0">
                <a:solidFill>
                  <a:schemeClr val="accent5"/>
                </a:solidFill>
              </a:rPr>
              <a:t>Hackathon NODE51  ·  Dakar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1188720"/>
          </a:xfrm>
          <a:prstGeom prst="rect">
            <a:avLst/>
          </a:prstGeom>
          <a:noFill/>
          <a:ln/>
        </p:spPr>
        <p:txBody>
          <a:bodyPr wrap="square" lIns="0" tIns="0" rIns="0" bIns="0" rtlCol="0" anchor="t"/>
          <a:lstStyle/>
          <a:p>
            <a:pPr algn="l" indent="0" marL="0">
              <a:buNone/>
            </a:pPr>
            <a:r>
              <a:rPr lang="en-US" sz="3400" b="1" dirty="0">
                <a:solidFill>
                  <a:schemeClr val="bg1"/>
                </a:solidFill>
              </a:rPr>
              <a:t>Plaintes pour arnaque au mobile money : ×14 en 5 ans</a:t>
            </a:r>
            <a:endParaRPr lang="en-US" sz="3400" dirty="0"/>
          </a:p>
        </p:txBody>
      </p:sp>
      <p:sp>
        <p:nvSpPr>
          <p:cNvPr id="3" name="Text 1"/>
          <p:cNvSpPr txBox="1"/>
          <p:nvPr/>
        </p:nvSpPr>
        <p:spPr>
          <a:xfrm>
            <a:off x="548640" y="1783080"/>
            <a:ext cx="5120640" cy="2286000"/>
          </a:xfrm>
          <a:prstGeom prst="rect">
            <a:avLst/>
          </a:prstGeom>
          <a:noFill/>
          <a:ln/>
        </p:spPr>
        <p:txBody>
          <a:bodyPr wrap="square" lIns="0" tIns="0" rIns="0" bIns="0" rtlCol="0" anchor="ctr"/>
          <a:lstStyle/>
          <a:p>
            <a:pPr indent="0" marL="0">
              <a:buNone/>
            </a:pPr>
            <a:r>
              <a:rPr lang="en-US" sz="15000" b="1" dirty="0">
                <a:solidFill>
                  <a:schemeClr val="accent2"/>
                </a:solidFill>
                <a:latin typeface="+mj-lt" pitchFamily="34" charset="0"/>
                <a:ea typeface="+mj-lt" pitchFamily="34" charset="-122"/>
                <a:cs typeface="+mj-lt" pitchFamily="34" charset="-120"/>
              </a:rPr>
              <a:t>×14</a:t>
            </a:r>
            <a:endParaRPr lang="en-US" sz="15000" dirty="0"/>
          </a:p>
        </p:txBody>
      </p:sp>
      <p:sp>
        <p:nvSpPr>
          <p:cNvPr id="4" name="Text 2"/>
          <p:cNvSpPr txBox="1"/>
          <p:nvPr/>
        </p:nvSpPr>
        <p:spPr>
          <a:xfrm>
            <a:off x="548640" y="4206240"/>
            <a:ext cx="4937760" cy="1097280"/>
          </a:xfrm>
          <a:prstGeom prst="rect">
            <a:avLst/>
          </a:prstGeom>
          <a:noFill/>
          <a:ln/>
        </p:spPr>
        <p:txBody>
          <a:bodyPr wrap="square" lIns="0" tIns="0" rIns="0" bIns="0" rtlCol="0" anchor="t"/>
          <a:lstStyle/>
          <a:p>
            <a:pPr indent="0" marL="0">
              <a:buNone/>
            </a:pPr>
            <a:r>
              <a:rPr lang="en-US" sz="2200" dirty="0">
                <a:solidFill>
                  <a:schemeClr val="bg1"/>
                </a:solidFill>
              </a:rPr>
              <a:t>Les victimes restent seules : ni explication, ni démarche, ni dossier.</a:t>
            </a:r>
            <a:endParaRPr lang="en-US" sz="2200" dirty="0"/>
          </a:p>
        </p:txBody>
      </p:sp>
      <p:sp>
        <p:nvSpPr>
          <p:cNvPr id="5" name="barre-2017"/>
          <p:cNvSpPr/>
          <p:nvPr/>
        </p:nvSpPr>
        <p:spPr>
          <a:xfrm>
            <a:off x="6858000" y="5340096"/>
            <a:ext cx="1417320" cy="192024"/>
          </a:xfrm>
          <a:prstGeom prst="roundRect">
            <a:avLst>
              <a:gd name="adj" fmla="val 38095"/>
            </a:avLst>
          </a:prstGeom>
          <a:solidFill>
            <a:schemeClr val="accent5">
              <a:alpha val="55000"/>
            </a:schemeClr>
          </a:solidFill>
          <a:ln/>
        </p:spPr>
      </p:sp>
      <p:sp>
        <p:nvSpPr>
          <p:cNvPr id="6" name="Text 4"/>
          <p:cNvSpPr txBox="1"/>
          <p:nvPr/>
        </p:nvSpPr>
        <p:spPr>
          <a:xfrm>
            <a:off x="6492240" y="4654296"/>
            <a:ext cx="2148840" cy="548640"/>
          </a:xfrm>
          <a:prstGeom prst="rect">
            <a:avLst/>
          </a:prstGeom>
          <a:no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 70</a:t>
            </a:r>
            <a:endParaRPr lang="en-US" sz="3000" dirty="0"/>
          </a:p>
        </p:txBody>
      </p:sp>
      <p:sp>
        <p:nvSpPr>
          <p:cNvPr id="7" name="Text 5"/>
          <p:cNvSpPr txBox="1"/>
          <p:nvPr/>
        </p:nvSpPr>
        <p:spPr>
          <a:xfrm>
            <a:off x="6858000" y="5623560"/>
            <a:ext cx="1417320" cy="320040"/>
          </a:xfrm>
          <a:prstGeom prst="rect">
            <a:avLst/>
          </a:prstGeom>
          <a:noFill/>
          <a:ln/>
        </p:spPr>
        <p:txBody>
          <a:bodyPr wrap="square" lIns="0" tIns="0" rIns="0" bIns="0" rtlCol="0" anchor="ctr"/>
          <a:lstStyle/>
          <a:p>
            <a:pPr algn="ctr" indent="0" marL="0">
              <a:buNone/>
            </a:pPr>
            <a:r>
              <a:rPr lang="en-US" sz="1500" dirty="0">
                <a:solidFill>
                  <a:schemeClr val="accent5"/>
                </a:solidFill>
              </a:rPr>
              <a:t>2017</a:t>
            </a:r>
            <a:endParaRPr lang="en-US" sz="1500" dirty="0"/>
          </a:p>
        </p:txBody>
      </p:sp>
      <p:sp>
        <p:nvSpPr>
          <p:cNvPr id="8" name="barre-2022"/>
          <p:cNvSpPr/>
          <p:nvPr/>
        </p:nvSpPr>
        <p:spPr>
          <a:xfrm>
            <a:off x="9418320" y="2788920"/>
            <a:ext cx="1417320" cy="2743200"/>
          </a:xfrm>
          <a:prstGeom prst="roundRect">
            <a:avLst>
              <a:gd name="adj" fmla="val 5161"/>
            </a:avLst>
          </a:prstGeom>
          <a:solidFill>
            <a:schemeClr val="accent3"/>
          </a:solidFill>
          <a:ln/>
        </p:spPr>
      </p:sp>
      <p:sp>
        <p:nvSpPr>
          <p:cNvPr id="9" name="Text 7"/>
          <p:cNvSpPr txBox="1"/>
          <p:nvPr/>
        </p:nvSpPr>
        <p:spPr>
          <a:xfrm>
            <a:off x="9052560" y="2103120"/>
            <a:ext cx="2148840" cy="548640"/>
          </a:xfrm>
          <a:prstGeom prst="rect">
            <a:avLst/>
          </a:prstGeom>
          <a:no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1 000+</a:t>
            </a:r>
            <a:endParaRPr lang="en-US" sz="3000" dirty="0"/>
          </a:p>
        </p:txBody>
      </p:sp>
      <p:sp>
        <p:nvSpPr>
          <p:cNvPr id="10" name="Text 8"/>
          <p:cNvSpPr txBox="1"/>
          <p:nvPr/>
        </p:nvSpPr>
        <p:spPr>
          <a:xfrm>
            <a:off x="9418320" y="5623560"/>
            <a:ext cx="1417320" cy="320040"/>
          </a:xfrm>
          <a:prstGeom prst="rect">
            <a:avLst/>
          </a:prstGeom>
          <a:noFill/>
          <a:ln/>
        </p:spPr>
        <p:txBody>
          <a:bodyPr wrap="square" lIns="0" tIns="0" rIns="0" bIns="0" rtlCol="0" anchor="ctr"/>
          <a:lstStyle/>
          <a:p>
            <a:pPr algn="ctr" indent="0" marL="0">
              <a:buNone/>
            </a:pPr>
            <a:r>
              <a:rPr lang="en-US" sz="1500" dirty="0">
                <a:solidFill>
                  <a:schemeClr val="accent5"/>
                </a:solidFill>
              </a:rPr>
              <a:t>2022</a:t>
            </a:r>
            <a:endParaRPr lang="en-US" sz="1500" dirty="0"/>
          </a:p>
        </p:txBody>
      </p:sp>
      <p:sp>
        <p:nvSpPr>
          <p:cNvPr id="11" name="Text 9"/>
          <p:cNvSpPr txBox="1"/>
          <p:nvPr/>
        </p:nvSpPr>
        <p:spPr>
          <a:xfrm>
            <a:off x="6492240" y="1783080"/>
            <a:ext cx="5120640" cy="365760"/>
          </a:xfrm>
          <a:prstGeom prst="rect">
            <a:avLst/>
          </a:prstGeom>
          <a:noFill/>
          <a:ln/>
        </p:spPr>
        <p:txBody>
          <a:bodyPr wrap="square" lIns="0" tIns="0" rIns="0" bIns="0" rtlCol="0" anchor="ctr"/>
          <a:lstStyle/>
          <a:p>
            <a:pPr indent="0" marL="0">
              <a:buNone/>
            </a:pPr>
            <a:r>
              <a:rPr lang="en-US" sz="1300" dirty="0">
                <a:solidFill>
                  <a:schemeClr val="accent5"/>
                </a:solidFill>
              </a:rPr>
              <a:t>Plaintes reçues par la police</a:t>
            </a:r>
            <a:endParaRPr lang="en-US" sz="1300" dirty="0"/>
          </a:p>
        </p:txBody>
      </p:sp>
      <p:sp>
        <p:nvSpPr>
          <p:cNvPr id="12" name="Text 10"/>
          <p:cNvSpPr txBox="1"/>
          <p:nvPr/>
        </p:nvSpPr>
        <p:spPr>
          <a:xfrm>
            <a:off x="6492240" y="5943600"/>
            <a:ext cx="5120640" cy="365760"/>
          </a:xfrm>
          <a:prstGeom prst="rect">
            <a:avLst/>
          </a:prstGeom>
          <a:noFill/>
          <a:ln/>
        </p:spPr>
        <p:txBody>
          <a:bodyPr wrap="square" lIns="0" tIns="0" rIns="0" bIns="0" rtlCol="0" anchor="ctr"/>
          <a:lstStyle/>
          <a:p>
            <a:pPr indent="0" marL="0">
              <a:buNone/>
            </a:pPr>
            <a:r>
              <a:rPr lang="en-US" sz="900" dirty="0">
                <a:solidFill>
                  <a:schemeClr val="accent5"/>
                </a:solidFill>
              </a:rPr>
              <a:t>Source : Division spéciale de cybersécurité, Police nationale, citée par RFI (30/10/2023). 2017 : environ un tiers de quelque 200 plaintes.</a:t>
            </a:r>
            <a:endParaRPr lang="en-US" sz="900" dirty="0"/>
          </a:p>
        </p:txBody>
      </p:sp>
      <p:sp>
        <p:nvSpPr>
          <p:cNvPr id="25" name="Slide Number Placeholder 0"/>
          <p:cNvSpPr>
            <a:spLocks noGrp="1"/>
          </p:cNvSpPr>
          <p:nvPr>
            <p:ph type="sldNum" sz="quarter" idx="4294967295"/>
          </p:nvPr>
        </p:nvSpPr>
        <p:spPr>
          <a:xfrm>
            <a:off x="11094415" y="6309360"/>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CFE9E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1188720"/>
          </a:xfrm>
          <a:prstGeom prst="rect">
            <a:avLst/>
          </a:prstGeom>
          <a:noFill/>
          <a:ln/>
        </p:spPr>
        <p:txBody>
          <a:bodyPr wrap="square" lIns="0" tIns="0" rIns="0" bIns="0" rtlCol="0" anchor="t"/>
          <a:lstStyle/>
          <a:p>
            <a:pPr algn="l" indent="0" marL="0">
              <a:buNone/>
            </a:pPr>
            <a:r>
              <a:rPr lang="en-US" sz="3400" b="1" dirty="0">
                <a:solidFill>
                  <a:schemeClr val="tx1"/>
                </a:solidFill>
              </a:rPr>
              <a:t>Un SMS suspect devient un dossier de réclamation en quelques minutes</a:t>
            </a:r>
            <a:endParaRPr lang="en-US" sz="3400" dirty="0"/>
          </a:p>
        </p:txBody>
      </p:sp>
      <p:sp>
        <p:nvSpPr>
          <p:cNvPr id="3" name="cercle-magnifyingGlass"/>
          <p:cNvSpPr/>
          <p:nvPr/>
        </p:nvSpPr>
        <p:spPr>
          <a:xfrm>
            <a:off x="1828800" y="2148840"/>
            <a:ext cx="1737360" cy="1737360"/>
          </a:xfrm>
          <a:prstGeom prst="ellipse">
            <a:avLst/>
          </a:prstGeom>
          <a:solidFill>
            <a:schemeClr val="accent1"/>
          </a:solidFill>
          <a:ln/>
        </p:spPr>
      </p:sp>
      <p:pic>
        <p:nvPicPr>
          <p:cNvPr id="4" name="icone-magnifyingGlass" descr="C:\Users\DELL\AppData\Local\Temp\claude\c--MesProjets-Woolu-AI\8d19d69f-7b2a-4c76-a2dd-ac8270f9cd4f\scratchpad\deck\assets\i-magnifyingGlass-w.png">    </p:cNvPr>
          <p:cNvPicPr>
            <a:picLocks noChangeAspect="1"/>
          </p:cNvPicPr>
          <p:nvPr/>
        </p:nvPicPr>
        <p:blipFill>
          <a:blip r:embed="rId1"/>
          <a:stretch>
            <a:fillRect/>
          </a:stretch>
        </p:blipFill>
        <p:spPr>
          <a:xfrm>
            <a:off x="2245766" y="2565806"/>
            <a:ext cx="903427" cy="903427"/>
          </a:xfrm>
          <a:prstGeom prst="rect">
            <a:avLst/>
          </a:prstGeom>
        </p:spPr>
      </p:pic>
      <p:sp>
        <p:nvSpPr>
          <p:cNvPr id="5" name="numero-1"/>
          <p:cNvSpPr/>
          <p:nvPr/>
        </p:nvSpPr>
        <p:spPr>
          <a:xfrm>
            <a:off x="3108960" y="2103120"/>
            <a:ext cx="502920" cy="502920"/>
          </a:xfrm>
          <a:prstGeom prst="ellipse">
            <a:avLst/>
          </a:prstGeom>
          <a:solidFill>
            <a:schemeClr val="accent2"/>
          </a:solidFill>
          <a:ln w="38100">
            <a:solidFill>
              <a:schemeClr val="bg2"/>
            </a:solidFill>
            <a:prstDash val="solid"/>
          </a:ln>
        </p:spPr>
      </p:sp>
      <p:sp>
        <p:nvSpPr>
          <p:cNvPr id="6" name="Text 3"/>
          <p:cNvSpPr txBox="1"/>
          <p:nvPr/>
        </p:nvSpPr>
        <p:spPr>
          <a:xfrm>
            <a:off x="3108960" y="210312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Text 4"/>
          <p:cNvSpPr txBox="1"/>
          <p:nvPr/>
        </p:nvSpPr>
        <p:spPr>
          <a:xfrm>
            <a:off x="1051560" y="4206240"/>
            <a:ext cx="3291840" cy="502920"/>
          </a:xfrm>
          <a:prstGeom prst="rect">
            <a:avLst/>
          </a:prstGeom>
          <a:noFill/>
          <a:ln/>
        </p:spPr>
        <p:txBody>
          <a:bodyPr wrap="square" lIns="0" tIns="0" rIns="0" bIns="0" rtlCol="0" anchor="ctr"/>
          <a:lstStyle/>
          <a:p>
            <a:pPr algn="ctr" indent="0" marL="0">
              <a:buNone/>
            </a:pPr>
            <a:r>
              <a:rPr lang="en-US" sz="2600" b="1" dirty="0">
                <a:solidFill>
                  <a:schemeClr val="tx1"/>
                </a:solidFill>
                <a:latin typeface="+mj-lt" pitchFamily="34" charset="0"/>
                <a:ea typeface="+mj-lt" pitchFamily="34" charset="-122"/>
                <a:cs typeface="+mj-lt" pitchFamily="34" charset="-120"/>
              </a:rPr>
              <a:t>Analyser</a:t>
            </a:r>
            <a:endParaRPr lang="en-US" sz="2600" dirty="0"/>
          </a:p>
        </p:txBody>
      </p:sp>
      <p:sp>
        <p:nvSpPr>
          <p:cNvPr id="8" name="Text 5"/>
          <p:cNvSpPr txBox="1"/>
          <p:nvPr/>
        </p:nvSpPr>
        <p:spPr>
          <a:xfrm>
            <a:off x="1051560" y="4754880"/>
            <a:ext cx="3291840" cy="411480"/>
          </a:xfrm>
          <a:prstGeom prst="rect">
            <a:avLst/>
          </a:prstGeom>
          <a:noFill/>
          <a:ln/>
        </p:spPr>
        <p:txBody>
          <a:bodyPr wrap="square" lIns="0" tIns="0" rIns="0" bIns="0" rtlCol="0" anchor="ctr"/>
          <a:lstStyle/>
          <a:p>
            <a:pPr algn="ctr" indent="0" marL="0">
              <a:buNone/>
            </a:pPr>
            <a:r>
              <a:rPr lang="en-US" sz="1600" dirty="0">
                <a:solidFill>
                  <a:schemeClr val="accent4"/>
                </a:solidFill>
              </a:rPr>
              <a:t>Risque et indices expliqués</a:t>
            </a:r>
            <a:endParaRPr lang="en-US" sz="1600" dirty="0"/>
          </a:p>
        </p:txBody>
      </p:sp>
      <p:sp>
        <p:nvSpPr>
          <p:cNvPr id="9" name="fleche-1"/>
          <p:cNvSpPr/>
          <p:nvPr/>
        </p:nvSpPr>
        <p:spPr>
          <a:xfrm>
            <a:off x="3794760" y="3017520"/>
            <a:ext cx="1600200" cy="0"/>
          </a:xfrm>
          <a:prstGeom prst="line">
            <a:avLst/>
          </a:prstGeom>
          <a:noFill/>
          <a:ln w="25400">
            <a:solidFill>
              <a:schemeClr val="accent4"/>
            </a:solidFill>
            <a:prstDash val="dash"/>
            <a:tailEnd type="triangle"/>
          </a:ln>
        </p:spPr>
      </p:sp>
      <p:sp>
        <p:nvSpPr>
          <p:cNvPr id="10" name="cercle-listChecks"/>
          <p:cNvSpPr/>
          <p:nvPr/>
        </p:nvSpPr>
        <p:spPr>
          <a:xfrm>
            <a:off x="5623560" y="2148840"/>
            <a:ext cx="1737360" cy="1737360"/>
          </a:xfrm>
          <a:prstGeom prst="ellipse">
            <a:avLst/>
          </a:prstGeom>
          <a:solidFill>
            <a:schemeClr val="accent1"/>
          </a:solidFill>
          <a:ln/>
        </p:spPr>
      </p:sp>
      <p:pic>
        <p:nvPicPr>
          <p:cNvPr id="11" name="icone-listChecks" descr="C:\Users\DELL\AppData\Local\Temp\claude\c--MesProjets-Woolu-AI\8d19d69f-7b2a-4c76-a2dd-ac8270f9cd4f\scratchpad\deck\assets\i-listChecks-w.png">    </p:cNvPr>
          <p:cNvPicPr>
            <a:picLocks noChangeAspect="1"/>
          </p:cNvPicPr>
          <p:nvPr/>
        </p:nvPicPr>
        <p:blipFill>
          <a:blip r:embed="rId2"/>
          <a:stretch>
            <a:fillRect/>
          </a:stretch>
        </p:blipFill>
        <p:spPr>
          <a:xfrm>
            <a:off x="6040526" y="2565806"/>
            <a:ext cx="903427" cy="903427"/>
          </a:xfrm>
          <a:prstGeom prst="rect">
            <a:avLst/>
          </a:prstGeom>
        </p:spPr>
      </p:pic>
      <p:sp>
        <p:nvSpPr>
          <p:cNvPr id="12" name="numero-2"/>
          <p:cNvSpPr/>
          <p:nvPr/>
        </p:nvSpPr>
        <p:spPr>
          <a:xfrm>
            <a:off x="6903720" y="2103120"/>
            <a:ext cx="502920" cy="502920"/>
          </a:xfrm>
          <a:prstGeom prst="ellipse">
            <a:avLst/>
          </a:prstGeom>
          <a:solidFill>
            <a:schemeClr val="accent2"/>
          </a:solidFill>
          <a:ln w="38100">
            <a:solidFill>
              <a:schemeClr val="bg2"/>
            </a:solidFill>
            <a:prstDash val="solid"/>
          </a:ln>
        </p:spPr>
      </p:sp>
      <p:sp>
        <p:nvSpPr>
          <p:cNvPr id="13" name="Text 9"/>
          <p:cNvSpPr txBox="1"/>
          <p:nvPr/>
        </p:nvSpPr>
        <p:spPr>
          <a:xfrm>
            <a:off x="6903720" y="210312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4" name="Text 10"/>
          <p:cNvSpPr txBox="1"/>
          <p:nvPr/>
        </p:nvSpPr>
        <p:spPr>
          <a:xfrm>
            <a:off x="4846320" y="4206240"/>
            <a:ext cx="3291840" cy="502920"/>
          </a:xfrm>
          <a:prstGeom prst="rect">
            <a:avLst/>
          </a:prstGeom>
          <a:noFill/>
          <a:ln/>
        </p:spPr>
        <p:txBody>
          <a:bodyPr wrap="square" lIns="0" tIns="0" rIns="0" bIns="0" rtlCol="0" anchor="ctr"/>
          <a:lstStyle/>
          <a:p>
            <a:pPr algn="ctr" indent="0" marL="0">
              <a:buNone/>
            </a:pPr>
            <a:r>
              <a:rPr lang="en-US" sz="2600" b="1" dirty="0">
                <a:solidFill>
                  <a:schemeClr val="tx1"/>
                </a:solidFill>
                <a:latin typeface="+mj-lt" pitchFamily="34" charset="0"/>
                <a:ea typeface="+mj-lt" pitchFamily="34" charset="-122"/>
                <a:cs typeface="+mj-lt" pitchFamily="34" charset="-120"/>
              </a:rPr>
              <a:t>Guider</a:t>
            </a:r>
            <a:endParaRPr lang="en-US" sz="2600" dirty="0"/>
          </a:p>
        </p:txBody>
      </p:sp>
      <p:sp>
        <p:nvSpPr>
          <p:cNvPr id="15" name="Text 11"/>
          <p:cNvSpPr txBox="1"/>
          <p:nvPr/>
        </p:nvSpPr>
        <p:spPr>
          <a:xfrm>
            <a:off x="4846320" y="4754880"/>
            <a:ext cx="3291840" cy="411480"/>
          </a:xfrm>
          <a:prstGeom prst="rect">
            <a:avLst/>
          </a:prstGeom>
          <a:noFill/>
          <a:ln/>
        </p:spPr>
        <p:txBody>
          <a:bodyPr wrap="square" lIns="0" tIns="0" rIns="0" bIns="0" rtlCol="0" anchor="ctr"/>
          <a:lstStyle/>
          <a:p>
            <a:pPr algn="ctr" indent="0" marL="0">
              <a:buNone/>
            </a:pPr>
            <a:r>
              <a:rPr lang="en-US" sz="1600" dirty="0">
                <a:solidFill>
                  <a:schemeClr val="accent4"/>
                </a:solidFill>
              </a:rPr>
              <a:t>Réflexes et étapes à suivre</a:t>
            </a:r>
            <a:endParaRPr lang="en-US" sz="1600" dirty="0"/>
          </a:p>
        </p:txBody>
      </p:sp>
      <p:sp>
        <p:nvSpPr>
          <p:cNvPr id="16" name="fleche-2"/>
          <p:cNvSpPr/>
          <p:nvPr/>
        </p:nvSpPr>
        <p:spPr>
          <a:xfrm>
            <a:off x="7589520" y="3017520"/>
            <a:ext cx="1600200" cy="0"/>
          </a:xfrm>
          <a:prstGeom prst="line">
            <a:avLst/>
          </a:prstGeom>
          <a:noFill/>
          <a:ln w="25400">
            <a:solidFill>
              <a:schemeClr val="accent4"/>
            </a:solidFill>
            <a:prstDash val="dash"/>
            <a:tailEnd type="triangle"/>
          </a:ln>
        </p:spPr>
      </p:sp>
      <p:sp>
        <p:nvSpPr>
          <p:cNvPr id="17" name="cercle-fileText"/>
          <p:cNvSpPr/>
          <p:nvPr/>
        </p:nvSpPr>
        <p:spPr>
          <a:xfrm>
            <a:off x="9418320" y="2148840"/>
            <a:ext cx="1737360" cy="1737360"/>
          </a:xfrm>
          <a:prstGeom prst="ellipse">
            <a:avLst/>
          </a:prstGeom>
          <a:solidFill>
            <a:schemeClr val="tx2"/>
          </a:solidFill>
          <a:ln/>
        </p:spPr>
      </p:sp>
      <p:pic>
        <p:nvPicPr>
          <p:cNvPr id="18" name="icone-fileText" descr="C:\Users\DELL\AppData\Local\Temp\claude\c--MesProjets-Woolu-AI\8d19d69f-7b2a-4c76-a2dd-ac8270f9cd4f\scratchpad\deck\assets\i-fileText-w.png">    </p:cNvPr>
          <p:cNvPicPr>
            <a:picLocks noChangeAspect="1"/>
          </p:cNvPicPr>
          <p:nvPr/>
        </p:nvPicPr>
        <p:blipFill>
          <a:blip r:embed="rId3"/>
          <a:stretch>
            <a:fillRect/>
          </a:stretch>
        </p:blipFill>
        <p:spPr>
          <a:xfrm>
            <a:off x="9835286" y="2565806"/>
            <a:ext cx="903427" cy="903427"/>
          </a:xfrm>
          <a:prstGeom prst="rect">
            <a:avLst/>
          </a:prstGeom>
        </p:spPr>
      </p:pic>
      <p:sp>
        <p:nvSpPr>
          <p:cNvPr id="19" name="numero-3"/>
          <p:cNvSpPr/>
          <p:nvPr/>
        </p:nvSpPr>
        <p:spPr>
          <a:xfrm>
            <a:off x="10698480" y="2103120"/>
            <a:ext cx="502920" cy="502920"/>
          </a:xfrm>
          <a:prstGeom prst="ellipse">
            <a:avLst/>
          </a:prstGeom>
          <a:solidFill>
            <a:schemeClr val="accent2"/>
          </a:solidFill>
          <a:ln w="38100">
            <a:solidFill>
              <a:schemeClr val="bg2"/>
            </a:solidFill>
            <a:prstDash val="solid"/>
          </a:ln>
        </p:spPr>
      </p:sp>
      <p:sp>
        <p:nvSpPr>
          <p:cNvPr id="20" name="Text 15"/>
          <p:cNvSpPr txBox="1"/>
          <p:nvPr/>
        </p:nvSpPr>
        <p:spPr>
          <a:xfrm>
            <a:off x="10698480" y="210312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1" name="Text 16"/>
          <p:cNvSpPr txBox="1"/>
          <p:nvPr/>
        </p:nvSpPr>
        <p:spPr>
          <a:xfrm>
            <a:off x="8641080" y="4206240"/>
            <a:ext cx="3291840" cy="502920"/>
          </a:xfrm>
          <a:prstGeom prst="rect">
            <a:avLst/>
          </a:prstGeom>
          <a:noFill/>
          <a:ln/>
        </p:spPr>
        <p:txBody>
          <a:bodyPr wrap="square" lIns="0" tIns="0" rIns="0" bIns="0" rtlCol="0" anchor="ctr"/>
          <a:lstStyle/>
          <a:p>
            <a:pPr algn="ctr" indent="0" marL="0">
              <a:buNone/>
            </a:pPr>
            <a:r>
              <a:rPr lang="en-US" sz="2600" b="1" dirty="0">
                <a:solidFill>
                  <a:schemeClr val="tx1"/>
                </a:solidFill>
                <a:latin typeface="+mj-lt" pitchFamily="34" charset="0"/>
                <a:ea typeface="+mj-lt" pitchFamily="34" charset="-122"/>
                <a:cs typeface="+mj-lt" pitchFamily="34" charset="-120"/>
              </a:rPr>
              <a:t>Résoudre</a:t>
            </a:r>
            <a:endParaRPr lang="en-US" sz="2600" dirty="0"/>
          </a:p>
        </p:txBody>
      </p:sp>
      <p:sp>
        <p:nvSpPr>
          <p:cNvPr id="22" name="Text 17"/>
          <p:cNvSpPr txBox="1"/>
          <p:nvPr/>
        </p:nvSpPr>
        <p:spPr>
          <a:xfrm>
            <a:off x="8641080" y="4754880"/>
            <a:ext cx="3291840" cy="411480"/>
          </a:xfrm>
          <a:prstGeom prst="rect">
            <a:avLst/>
          </a:prstGeom>
          <a:noFill/>
          <a:ln/>
        </p:spPr>
        <p:txBody>
          <a:bodyPr wrap="square" lIns="0" tIns="0" rIns="0" bIns="0" rtlCol="0" anchor="ctr"/>
          <a:lstStyle/>
          <a:p>
            <a:pPr algn="ctr" indent="0" marL="0">
              <a:buNone/>
            </a:pPr>
            <a:r>
              <a:rPr lang="en-US" sz="1600" dirty="0">
                <a:solidFill>
                  <a:schemeClr val="accent4"/>
                </a:solidFill>
              </a:rPr>
              <a:t>Dossier PDF prêt à envoyer</a:t>
            </a:r>
            <a:endParaRPr lang="en-US" sz="1600" dirty="0"/>
          </a:p>
        </p:txBody>
      </p:sp>
      <p:sp>
        <p:nvSpPr>
          <p:cNvPr id="23" name="pastille-entrees"/>
          <p:cNvSpPr/>
          <p:nvPr/>
        </p:nvSpPr>
        <p:spPr>
          <a:xfrm>
            <a:off x="3355848" y="5486400"/>
            <a:ext cx="5486400" cy="502920"/>
          </a:xfrm>
          <a:prstGeom prst="roundRect">
            <a:avLst>
              <a:gd name="adj" fmla="val 49091"/>
            </a:avLst>
          </a:prstGeom>
          <a:solidFill>
            <a:schemeClr val="accent5"/>
          </a:solidFill>
          <a:ln/>
        </p:spPr>
      </p:sp>
      <p:pic>
        <p:nvPicPr>
          <p:cNvPr id="24" name="icone-cadenas" descr="C:\Users\DELL\AppData\Local\Temp\claude\c--MesProjets-Woolu-AI\8d19d69f-7b2a-4c76-a2dd-ac8270f9cd4f\scratchpad\deck\assets\i-lockKey-g.png">    </p:cNvPr>
          <p:cNvPicPr>
            <a:picLocks noChangeAspect="1"/>
          </p:cNvPicPr>
          <p:nvPr/>
        </p:nvPicPr>
        <p:blipFill>
          <a:blip r:embed="rId4"/>
          <a:stretch>
            <a:fillRect/>
          </a:stretch>
        </p:blipFill>
        <p:spPr>
          <a:xfrm>
            <a:off x="3611880" y="5577840"/>
            <a:ext cx="320040" cy="320040"/>
          </a:xfrm>
          <a:prstGeom prst="rect">
            <a:avLst/>
          </a:prstGeom>
        </p:spPr>
      </p:pic>
      <p:sp>
        <p:nvSpPr>
          <p:cNvPr id="25" name="Text 19"/>
          <p:cNvSpPr txBox="1"/>
          <p:nvPr/>
        </p:nvSpPr>
        <p:spPr>
          <a:xfrm>
            <a:off x="4023360" y="5486400"/>
            <a:ext cx="4663440" cy="502920"/>
          </a:xfrm>
          <a:prstGeom prst="rect">
            <a:avLst/>
          </a:prstGeom>
          <a:noFill/>
          <a:ln/>
        </p:spPr>
        <p:txBody>
          <a:bodyPr wrap="square" lIns="0" tIns="0" rIns="0" bIns="0" rtlCol="0" anchor="ctr"/>
          <a:lstStyle/>
          <a:p>
            <a:pPr indent="0" marL="0">
              <a:buNone/>
            </a:pPr>
            <a:r>
              <a:rPr lang="en-US" sz="1500" b="1" dirty="0">
                <a:solidFill>
                  <a:schemeClr val="tx2"/>
                </a:solidFill>
              </a:rPr>
              <a:t>Aucun code demandé, aucune donnée conservée</a:t>
            </a:r>
            <a:endParaRPr lang="en-US" sz="1500" dirty="0"/>
          </a:p>
        </p:txBody>
      </p:sp>
      <p:sp>
        <p:nvSpPr>
          <p:cNvPr id="25" name="Slide Number Placeholder 0"/>
          <p:cNvSpPr>
            <a:spLocks noGrp="1"/>
          </p:cNvSpPr>
          <p:nvPr>
            <p:ph type="sldNum" sz="quarter" idx="4294967295"/>
          </p:nvPr>
        </p:nvSpPr>
        <p:spPr>
          <a:xfrm>
            <a:off x="11094415" y="6309360"/>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5B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1188720"/>
          </a:xfrm>
          <a:prstGeom prst="rect">
            <a:avLst/>
          </a:prstGeom>
          <a:noFill/>
          <a:ln/>
        </p:spPr>
        <p:txBody>
          <a:bodyPr wrap="square" lIns="0" tIns="0" rIns="0" bIns="0" rtlCol="0" anchor="t"/>
          <a:lstStyle/>
          <a:p>
            <a:pPr algn="l" indent="0" marL="0">
              <a:buNone/>
            </a:pPr>
            <a:r>
              <a:rPr lang="en-US" sz="3400" b="1" dirty="0">
                <a:solidFill>
                  <a:schemeClr val="tx1"/>
                </a:solidFill>
              </a:rPr>
              <a:t>Un vrai SMS, une analyse claire, un parcours guidé</a:t>
            </a:r>
            <a:endParaRPr lang="en-US" sz="3400" dirty="0"/>
          </a:p>
        </p:txBody>
      </p:sp>
      <p:pic>
        <p:nvPicPr>
          <p:cNvPr id="3" name="capture-1" descr="Coller le SMS">    </p:cNvPr>
          <p:cNvPicPr>
            <a:picLocks noChangeAspect="1"/>
          </p:cNvPicPr>
          <p:nvPr/>
        </p:nvPicPr>
        <p:blipFill>
          <a:blip r:embed="rId1"/>
          <a:stretch>
            <a:fillRect/>
          </a:stretch>
        </p:blipFill>
        <p:spPr>
          <a:xfrm>
            <a:off x="1417320" y="1600200"/>
            <a:ext cx="2091769" cy="3977640"/>
          </a:xfrm>
          <a:prstGeom prst="rect">
            <a:avLst/>
          </a:prstGeom>
        </p:spPr>
      </p:pic>
      <p:sp>
        <p:nvSpPr>
          <p:cNvPr id="4" name="puce-1"/>
          <p:cNvSpPr/>
          <p:nvPr/>
        </p:nvSpPr>
        <p:spPr>
          <a:xfrm>
            <a:off x="1554480" y="5669280"/>
            <a:ext cx="411480" cy="411480"/>
          </a:xfrm>
          <a:prstGeom prst="ellipse">
            <a:avLst/>
          </a:prstGeom>
          <a:solidFill>
            <a:schemeClr val="accent1"/>
          </a:solidFill>
          <a:ln/>
        </p:spPr>
      </p:sp>
      <p:sp>
        <p:nvSpPr>
          <p:cNvPr id="5" name="Text 2"/>
          <p:cNvSpPr txBox="1"/>
          <p:nvPr/>
        </p:nvSpPr>
        <p:spPr>
          <a:xfrm>
            <a:off x="1554480" y="5669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2075688" y="5669280"/>
            <a:ext cx="2377440" cy="411480"/>
          </a:xfrm>
          <a:prstGeom prst="rect">
            <a:avLst/>
          </a:prstGeom>
          <a:noFill/>
          <a:ln/>
        </p:spPr>
        <p:txBody>
          <a:bodyPr wrap="square" lIns="0" tIns="0" rIns="0" bIns="0" rtlCol="0" anchor="ctr"/>
          <a:lstStyle/>
          <a:p>
            <a:pPr indent="0" marL="0">
              <a:buNone/>
            </a:pPr>
            <a:r>
              <a:rPr lang="en-US" sz="1500" b="1" dirty="0">
                <a:solidFill>
                  <a:schemeClr val="tx1"/>
                </a:solidFill>
              </a:rPr>
              <a:t>Coller le SMS</a:t>
            </a:r>
            <a:endParaRPr lang="en-US" sz="1500" dirty="0"/>
          </a:p>
        </p:txBody>
      </p:sp>
      <p:pic>
        <p:nvPicPr>
          <p:cNvPr id="7" name="capture-2" descr="Risque et réflexes">    </p:cNvPr>
          <p:cNvPicPr>
            <a:picLocks noChangeAspect="1"/>
          </p:cNvPicPr>
          <p:nvPr/>
        </p:nvPicPr>
        <p:blipFill>
          <a:blip r:embed="rId2"/>
          <a:stretch>
            <a:fillRect/>
          </a:stretch>
        </p:blipFill>
        <p:spPr>
          <a:xfrm>
            <a:off x="4846320" y="1600200"/>
            <a:ext cx="2091769" cy="3977640"/>
          </a:xfrm>
          <a:prstGeom prst="rect">
            <a:avLst/>
          </a:prstGeom>
        </p:spPr>
      </p:pic>
      <p:sp>
        <p:nvSpPr>
          <p:cNvPr id="8" name="puce-2"/>
          <p:cNvSpPr/>
          <p:nvPr/>
        </p:nvSpPr>
        <p:spPr>
          <a:xfrm>
            <a:off x="4983480" y="5669280"/>
            <a:ext cx="411480" cy="411480"/>
          </a:xfrm>
          <a:prstGeom prst="ellipse">
            <a:avLst/>
          </a:prstGeom>
          <a:solidFill>
            <a:schemeClr val="accent1"/>
          </a:solidFill>
          <a:ln/>
        </p:spPr>
      </p:sp>
      <p:sp>
        <p:nvSpPr>
          <p:cNvPr id="9" name="Text 5"/>
          <p:cNvSpPr txBox="1"/>
          <p:nvPr/>
        </p:nvSpPr>
        <p:spPr>
          <a:xfrm>
            <a:off x="4983480" y="5669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6"/>
          <p:cNvSpPr txBox="1"/>
          <p:nvPr/>
        </p:nvSpPr>
        <p:spPr>
          <a:xfrm>
            <a:off x="5504688" y="5669280"/>
            <a:ext cx="2377440" cy="411480"/>
          </a:xfrm>
          <a:prstGeom prst="rect">
            <a:avLst/>
          </a:prstGeom>
          <a:noFill/>
          <a:ln/>
        </p:spPr>
        <p:txBody>
          <a:bodyPr wrap="square" lIns="0" tIns="0" rIns="0" bIns="0" rtlCol="0" anchor="ctr"/>
          <a:lstStyle/>
          <a:p>
            <a:pPr indent="0" marL="0">
              <a:buNone/>
            </a:pPr>
            <a:r>
              <a:rPr lang="en-US" sz="1500" b="1" dirty="0">
                <a:solidFill>
                  <a:schemeClr val="tx1"/>
                </a:solidFill>
              </a:rPr>
              <a:t>Risque et réflexes</a:t>
            </a:r>
            <a:endParaRPr lang="en-US" sz="1500" dirty="0"/>
          </a:p>
        </p:txBody>
      </p:sp>
      <p:pic>
        <p:nvPicPr>
          <p:cNvPr id="11" name="capture-3" descr="Étapes jusqu'au dossier">    </p:cNvPr>
          <p:cNvPicPr>
            <a:picLocks noChangeAspect="1"/>
          </p:cNvPicPr>
          <p:nvPr/>
        </p:nvPicPr>
        <p:blipFill>
          <a:blip r:embed="rId3"/>
          <a:stretch>
            <a:fillRect/>
          </a:stretch>
        </p:blipFill>
        <p:spPr>
          <a:xfrm>
            <a:off x="8275320" y="1600200"/>
            <a:ext cx="2091769" cy="3977640"/>
          </a:xfrm>
          <a:prstGeom prst="rect">
            <a:avLst/>
          </a:prstGeom>
        </p:spPr>
      </p:pic>
      <p:sp>
        <p:nvSpPr>
          <p:cNvPr id="12" name="puce-3"/>
          <p:cNvSpPr/>
          <p:nvPr/>
        </p:nvSpPr>
        <p:spPr>
          <a:xfrm>
            <a:off x="8412480" y="5669280"/>
            <a:ext cx="411480" cy="411480"/>
          </a:xfrm>
          <a:prstGeom prst="ellipse">
            <a:avLst/>
          </a:prstGeom>
          <a:solidFill>
            <a:schemeClr val="accent1"/>
          </a:solidFill>
          <a:ln/>
        </p:spPr>
      </p:sp>
      <p:sp>
        <p:nvSpPr>
          <p:cNvPr id="13" name="Text 8"/>
          <p:cNvSpPr txBox="1"/>
          <p:nvPr/>
        </p:nvSpPr>
        <p:spPr>
          <a:xfrm>
            <a:off x="8412480" y="5669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9"/>
          <p:cNvSpPr txBox="1"/>
          <p:nvPr/>
        </p:nvSpPr>
        <p:spPr>
          <a:xfrm>
            <a:off x="8933688" y="5669280"/>
            <a:ext cx="2377440" cy="411480"/>
          </a:xfrm>
          <a:prstGeom prst="rect">
            <a:avLst/>
          </a:prstGeom>
          <a:noFill/>
          <a:ln/>
        </p:spPr>
        <p:txBody>
          <a:bodyPr wrap="square" lIns="0" tIns="0" rIns="0" bIns="0" rtlCol="0" anchor="ctr"/>
          <a:lstStyle/>
          <a:p>
            <a:pPr indent="0" marL="0">
              <a:buNone/>
            </a:pPr>
            <a:r>
              <a:rPr lang="en-US" sz="1500" b="1" dirty="0">
                <a:solidFill>
                  <a:schemeClr val="tx1"/>
                </a:solidFill>
              </a:rPr>
              <a:t>Étapes jusqu'au dossier</a:t>
            </a:r>
            <a:endParaRPr lang="en-US" sz="1500" dirty="0"/>
          </a:p>
        </p:txBody>
      </p:sp>
      <p:sp>
        <p:nvSpPr>
          <p:cNvPr id="25" name="Slide Number Placeholder 0"/>
          <p:cNvSpPr>
            <a:spLocks noGrp="1"/>
          </p:cNvSpPr>
          <p:nvPr>
            <p:ph type="sldNum" sz="quarter" idx="4294967295"/>
          </p:nvPr>
        </p:nvSpPr>
        <p:spPr>
          <a:xfrm>
            <a:off x="11094415" y="6309360"/>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5B6B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1188720"/>
          </a:xfrm>
          <a:prstGeom prst="rect">
            <a:avLst/>
          </a:prstGeom>
          <a:noFill/>
          <a:ln/>
        </p:spPr>
        <p:txBody>
          <a:bodyPr wrap="square" lIns="0" tIns="0" rIns="0" bIns="0" rtlCol="0" anchor="t"/>
          <a:lstStyle/>
          <a:p>
            <a:pPr algn="l" indent="0" marL="0">
              <a:buNone/>
            </a:pPr>
            <a:r>
              <a:rPr lang="en-US" sz="3400" b="1" dirty="0">
                <a:solidFill>
                  <a:schemeClr val="tx1"/>
                </a:solidFill>
              </a:rPr>
              <a:t>42 millions de comptes mobile money au Sénégal</a:t>
            </a:r>
            <a:endParaRPr lang="en-US" sz="3400" dirty="0"/>
          </a:p>
        </p:txBody>
      </p:sp>
      <p:sp>
        <p:nvSpPr>
          <p:cNvPr id="3" name="cercle-TAM"/>
          <p:cNvSpPr/>
          <p:nvPr/>
        </p:nvSpPr>
        <p:spPr>
          <a:xfrm>
            <a:off x="914400" y="1783080"/>
            <a:ext cx="4114800" cy="4114800"/>
          </a:xfrm>
          <a:prstGeom prst="ellipse">
            <a:avLst/>
          </a:prstGeom>
          <a:solidFill>
            <a:schemeClr val="accent5"/>
          </a:solidFill>
          <a:ln w="25400">
            <a:solidFill>
              <a:schemeClr val="bg2"/>
            </a:solidFill>
            <a:prstDash val="solid"/>
          </a:ln>
        </p:spPr>
      </p:sp>
      <p:sp>
        <p:nvSpPr>
          <p:cNvPr id="4" name="Text 2"/>
          <p:cNvSpPr txBox="1"/>
          <p:nvPr/>
        </p:nvSpPr>
        <p:spPr>
          <a:xfrm>
            <a:off x="914400" y="2103120"/>
            <a:ext cx="4114800" cy="365760"/>
          </a:xfrm>
          <a:prstGeom prst="rect">
            <a:avLst/>
          </a:prstGeom>
          <a:noFill/>
          <a:ln/>
        </p:spPr>
        <p:txBody>
          <a:bodyPr wrap="square" lIns="0" tIns="0" rIns="0" bIns="0" rtlCol="0" anchor="ctr"/>
          <a:lstStyle/>
          <a:p>
            <a:pPr algn="ctr" indent="0" marL="0">
              <a:buNone/>
            </a:pPr>
            <a:r>
              <a:rPr lang="en-US" sz="1600" b="1" dirty="0">
                <a:solidFill>
                  <a:schemeClr val="tx2"/>
                </a:solidFill>
              </a:rPr>
              <a:t>TAM</a:t>
            </a:r>
            <a:endParaRPr lang="en-US" sz="1600" dirty="0"/>
          </a:p>
        </p:txBody>
      </p:sp>
      <p:sp>
        <p:nvSpPr>
          <p:cNvPr id="5" name="cercle-SAM"/>
          <p:cNvSpPr/>
          <p:nvPr/>
        </p:nvSpPr>
        <p:spPr>
          <a:xfrm>
            <a:off x="1600200" y="3154680"/>
            <a:ext cx="2743200" cy="2743200"/>
          </a:xfrm>
          <a:prstGeom prst="ellipse">
            <a:avLst/>
          </a:prstGeom>
          <a:solidFill>
            <a:schemeClr val="accent1"/>
          </a:solidFill>
          <a:ln w="25400">
            <a:solidFill>
              <a:schemeClr val="bg2"/>
            </a:solidFill>
            <a:prstDash val="solid"/>
          </a:ln>
        </p:spPr>
      </p:sp>
      <p:sp>
        <p:nvSpPr>
          <p:cNvPr id="6" name="Text 4"/>
          <p:cNvSpPr txBox="1"/>
          <p:nvPr/>
        </p:nvSpPr>
        <p:spPr>
          <a:xfrm>
            <a:off x="1600200" y="3474720"/>
            <a:ext cx="2743200" cy="365760"/>
          </a:xfrm>
          <a:prstGeom prst="rect">
            <a:avLst/>
          </a:prstGeom>
          <a:noFill/>
          <a:ln/>
        </p:spPr>
        <p:txBody>
          <a:bodyPr wrap="square" lIns="0" tIns="0" rIns="0" bIns="0" rtlCol="0" anchor="ctr"/>
          <a:lstStyle/>
          <a:p>
            <a:pPr algn="ctr" indent="0" marL="0">
              <a:buNone/>
            </a:pPr>
            <a:r>
              <a:rPr lang="en-US" sz="1600" b="1" dirty="0">
                <a:solidFill>
                  <a:schemeClr val="bg1"/>
                </a:solidFill>
              </a:rPr>
              <a:t>SAM</a:t>
            </a:r>
            <a:endParaRPr lang="en-US" sz="1600" dirty="0"/>
          </a:p>
        </p:txBody>
      </p:sp>
      <p:sp>
        <p:nvSpPr>
          <p:cNvPr id="7" name="cercle-SOM"/>
          <p:cNvSpPr/>
          <p:nvPr/>
        </p:nvSpPr>
        <p:spPr>
          <a:xfrm>
            <a:off x="2331720" y="4617720"/>
            <a:ext cx="1280160" cy="1280160"/>
          </a:xfrm>
          <a:prstGeom prst="ellipse">
            <a:avLst/>
          </a:prstGeom>
          <a:solidFill>
            <a:schemeClr val="accent2"/>
          </a:solidFill>
          <a:ln w="25400">
            <a:solidFill>
              <a:schemeClr val="bg2"/>
            </a:solidFill>
            <a:prstDash val="solid"/>
          </a:ln>
        </p:spPr>
      </p:sp>
      <p:sp>
        <p:nvSpPr>
          <p:cNvPr id="8" name="Text 6"/>
          <p:cNvSpPr txBox="1"/>
          <p:nvPr/>
        </p:nvSpPr>
        <p:spPr>
          <a:xfrm>
            <a:off x="2331720" y="5074920"/>
            <a:ext cx="1280160" cy="365760"/>
          </a:xfrm>
          <a:prstGeom prst="rect">
            <a:avLst/>
          </a:prstGeom>
          <a:noFill/>
          <a:ln/>
        </p:spPr>
        <p:txBody>
          <a:bodyPr wrap="square" lIns="0" tIns="0" rIns="0" bIns="0" rtlCol="0" anchor="ctr"/>
          <a:lstStyle/>
          <a:p>
            <a:pPr algn="ctr" indent="0" marL="0">
              <a:buNone/>
            </a:pPr>
            <a:r>
              <a:rPr lang="en-US" sz="1600" b="1" dirty="0">
                <a:solidFill>
                  <a:schemeClr val="tx1"/>
                </a:solidFill>
              </a:rPr>
              <a:t>SOM</a:t>
            </a:r>
            <a:endParaRPr lang="en-US" sz="1600" dirty="0"/>
          </a:p>
        </p:txBody>
      </p:sp>
      <p:sp>
        <p:nvSpPr>
          <p:cNvPr id="9" name="puce-TAM"/>
          <p:cNvSpPr/>
          <p:nvPr/>
        </p:nvSpPr>
        <p:spPr>
          <a:xfrm>
            <a:off x="6035040" y="2176272"/>
            <a:ext cx="292608" cy="292608"/>
          </a:xfrm>
          <a:prstGeom prst="ellipse">
            <a:avLst/>
          </a:prstGeom>
          <a:solidFill>
            <a:schemeClr val="accent5"/>
          </a:solidFill>
          <a:ln w="9525">
            <a:solidFill>
              <a:schemeClr val="accent4"/>
            </a:solidFill>
            <a:prstDash val="solid"/>
          </a:ln>
        </p:spPr>
      </p:sp>
      <p:sp>
        <p:nvSpPr>
          <p:cNvPr id="10" name="Text 8"/>
          <p:cNvSpPr txBox="1"/>
          <p:nvPr/>
        </p:nvSpPr>
        <p:spPr>
          <a:xfrm>
            <a:off x="6537960" y="1920240"/>
            <a:ext cx="2377440" cy="77724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248 M</a:t>
            </a:r>
            <a:endParaRPr lang="en-US" sz="4000" dirty="0"/>
          </a:p>
        </p:txBody>
      </p:sp>
      <p:sp>
        <p:nvSpPr>
          <p:cNvPr id="11" name="Text 9"/>
          <p:cNvSpPr txBox="1"/>
          <p:nvPr/>
        </p:nvSpPr>
        <p:spPr>
          <a:xfrm>
            <a:off x="9006840" y="1965960"/>
            <a:ext cx="2743200" cy="411480"/>
          </a:xfrm>
          <a:prstGeom prst="rect">
            <a:avLst/>
          </a:prstGeom>
          <a:noFill/>
          <a:ln/>
        </p:spPr>
        <p:txBody>
          <a:bodyPr wrap="square" lIns="0" tIns="0" rIns="0" bIns="0" rtlCol="0" anchor="ctr"/>
          <a:lstStyle/>
          <a:p>
            <a:pPr indent="0" marL="0">
              <a:buNone/>
            </a:pPr>
            <a:r>
              <a:rPr lang="en-US" sz="1500" b="1" dirty="0">
                <a:solidFill>
                  <a:schemeClr val="tx1"/>
                </a:solidFill>
              </a:rPr>
              <a:t>TAM · comptes dans l'UEMOA</a:t>
            </a:r>
            <a:endParaRPr lang="en-US" sz="1500" dirty="0"/>
          </a:p>
        </p:txBody>
      </p:sp>
      <p:sp>
        <p:nvSpPr>
          <p:cNvPr id="12" name="Text 10"/>
          <p:cNvSpPr txBox="1"/>
          <p:nvPr/>
        </p:nvSpPr>
        <p:spPr>
          <a:xfrm>
            <a:off x="9006840" y="2359152"/>
            <a:ext cx="2743200" cy="320040"/>
          </a:xfrm>
          <a:prstGeom prst="rect">
            <a:avLst/>
          </a:prstGeom>
          <a:noFill/>
          <a:ln/>
        </p:spPr>
        <p:txBody>
          <a:bodyPr wrap="square" lIns="0" tIns="0" rIns="0" bIns="0" rtlCol="0" anchor="ctr"/>
          <a:lstStyle/>
          <a:p>
            <a:pPr indent="0" marL="0">
              <a:buNone/>
            </a:pPr>
            <a:r>
              <a:rPr lang="en-US" sz="1100" dirty="0">
                <a:solidFill>
                  <a:schemeClr val="accent4"/>
                </a:solidFill>
              </a:rPr>
              <a:t>BCEAO, 2024</a:t>
            </a:r>
            <a:endParaRPr lang="en-US" sz="1100" dirty="0"/>
          </a:p>
        </p:txBody>
      </p:sp>
      <p:sp>
        <p:nvSpPr>
          <p:cNvPr id="13" name="puce-SAM"/>
          <p:cNvSpPr/>
          <p:nvPr/>
        </p:nvSpPr>
        <p:spPr>
          <a:xfrm>
            <a:off x="6035040" y="3502152"/>
            <a:ext cx="292608" cy="292608"/>
          </a:xfrm>
          <a:prstGeom prst="ellipse">
            <a:avLst/>
          </a:prstGeom>
          <a:solidFill>
            <a:schemeClr val="accent1"/>
          </a:solidFill>
          <a:ln w="9525">
            <a:solidFill>
              <a:schemeClr val="accent4"/>
            </a:solidFill>
            <a:prstDash val="solid"/>
          </a:ln>
        </p:spPr>
      </p:sp>
      <p:sp>
        <p:nvSpPr>
          <p:cNvPr id="14" name="Text 12"/>
          <p:cNvSpPr txBox="1"/>
          <p:nvPr/>
        </p:nvSpPr>
        <p:spPr>
          <a:xfrm>
            <a:off x="6537960" y="3246120"/>
            <a:ext cx="2377440" cy="77724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42 M</a:t>
            </a:r>
            <a:endParaRPr lang="en-US" sz="4000" dirty="0"/>
          </a:p>
        </p:txBody>
      </p:sp>
      <p:sp>
        <p:nvSpPr>
          <p:cNvPr id="15" name="Text 13"/>
          <p:cNvSpPr txBox="1"/>
          <p:nvPr/>
        </p:nvSpPr>
        <p:spPr>
          <a:xfrm>
            <a:off x="9006840" y="3291840"/>
            <a:ext cx="2743200" cy="411480"/>
          </a:xfrm>
          <a:prstGeom prst="rect">
            <a:avLst/>
          </a:prstGeom>
          <a:noFill/>
          <a:ln/>
        </p:spPr>
        <p:txBody>
          <a:bodyPr wrap="square" lIns="0" tIns="0" rIns="0" bIns="0" rtlCol="0" anchor="ctr"/>
          <a:lstStyle/>
          <a:p>
            <a:pPr indent="0" marL="0">
              <a:buNone/>
            </a:pPr>
            <a:r>
              <a:rPr lang="en-US" sz="1500" b="1" dirty="0">
                <a:solidFill>
                  <a:schemeClr val="tx1"/>
                </a:solidFill>
              </a:rPr>
              <a:t>SAM · comptes au Sénégal</a:t>
            </a:r>
            <a:endParaRPr lang="en-US" sz="1500" dirty="0"/>
          </a:p>
        </p:txBody>
      </p:sp>
      <p:sp>
        <p:nvSpPr>
          <p:cNvPr id="16" name="Text 14"/>
          <p:cNvSpPr txBox="1"/>
          <p:nvPr/>
        </p:nvSpPr>
        <p:spPr>
          <a:xfrm>
            <a:off x="9006840" y="3685032"/>
            <a:ext cx="2743200" cy="320040"/>
          </a:xfrm>
          <a:prstGeom prst="rect">
            <a:avLst/>
          </a:prstGeom>
          <a:noFill/>
          <a:ln/>
        </p:spPr>
        <p:txBody>
          <a:bodyPr wrap="square" lIns="0" tIns="0" rIns="0" bIns="0" rtlCol="0" anchor="ctr"/>
          <a:lstStyle/>
          <a:p>
            <a:pPr indent="0" marL="0">
              <a:buNone/>
            </a:pPr>
            <a:r>
              <a:rPr lang="en-US" sz="1100" dirty="0">
                <a:solidFill>
                  <a:schemeClr val="accent4"/>
                </a:solidFill>
              </a:rPr>
              <a:t>BCEAO, 2024 (17,1 % de l'Union)</a:t>
            </a:r>
            <a:endParaRPr lang="en-US" sz="1100" dirty="0"/>
          </a:p>
        </p:txBody>
      </p:sp>
      <p:sp>
        <p:nvSpPr>
          <p:cNvPr id="17" name="puce-SOM"/>
          <p:cNvSpPr/>
          <p:nvPr/>
        </p:nvSpPr>
        <p:spPr>
          <a:xfrm>
            <a:off x="6035040" y="4828032"/>
            <a:ext cx="292608" cy="292608"/>
          </a:xfrm>
          <a:prstGeom prst="ellipse">
            <a:avLst/>
          </a:prstGeom>
          <a:solidFill>
            <a:schemeClr val="accent2"/>
          </a:solidFill>
          <a:ln w="9525">
            <a:solidFill>
              <a:schemeClr val="accent4"/>
            </a:solidFill>
            <a:prstDash val="solid"/>
          </a:ln>
        </p:spPr>
      </p:sp>
      <p:sp>
        <p:nvSpPr>
          <p:cNvPr id="18" name="Text 16"/>
          <p:cNvSpPr txBox="1"/>
          <p:nvPr/>
        </p:nvSpPr>
        <p:spPr>
          <a:xfrm>
            <a:off x="6537960" y="4572000"/>
            <a:ext cx="2377440" cy="77724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200 000</a:t>
            </a:r>
            <a:endParaRPr lang="en-US" sz="4000" dirty="0"/>
          </a:p>
        </p:txBody>
      </p:sp>
      <p:sp>
        <p:nvSpPr>
          <p:cNvPr id="19" name="Text 17"/>
          <p:cNvSpPr txBox="1"/>
          <p:nvPr/>
        </p:nvSpPr>
        <p:spPr>
          <a:xfrm>
            <a:off x="9006840" y="4617720"/>
            <a:ext cx="2743200" cy="411480"/>
          </a:xfrm>
          <a:prstGeom prst="rect">
            <a:avLst/>
          </a:prstGeom>
          <a:noFill/>
          <a:ln/>
        </p:spPr>
        <p:txBody>
          <a:bodyPr wrap="square" lIns="0" tIns="0" rIns="0" bIns="0" rtlCol="0" anchor="ctr"/>
          <a:lstStyle/>
          <a:p>
            <a:pPr indent="0" marL="0">
              <a:buNone/>
            </a:pPr>
            <a:r>
              <a:rPr lang="en-US" sz="1500" b="1" dirty="0">
                <a:solidFill>
                  <a:schemeClr val="tx1"/>
                </a:solidFill>
              </a:rPr>
              <a:t>SOM · utilisateurs visés à 3 ans</a:t>
            </a:r>
            <a:endParaRPr lang="en-US" sz="1500" dirty="0"/>
          </a:p>
        </p:txBody>
      </p:sp>
      <p:sp>
        <p:nvSpPr>
          <p:cNvPr id="20" name="Text 18"/>
          <p:cNvSpPr txBox="1"/>
          <p:nvPr/>
        </p:nvSpPr>
        <p:spPr>
          <a:xfrm>
            <a:off x="9006840" y="5010912"/>
            <a:ext cx="2743200" cy="320040"/>
          </a:xfrm>
          <a:prstGeom prst="rect">
            <a:avLst/>
          </a:prstGeom>
          <a:noFill/>
          <a:ln/>
        </p:spPr>
        <p:txBody>
          <a:bodyPr wrap="square" lIns="0" tIns="0" rIns="0" bIns="0" rtlCol="0" anchor="ctr"/>
          <a:lstStyle/>
          <a:p>
            <a:pPr indent="0" marL="0">
              <a:buNone/>
            </a:pPr>
            <a:r>
              <a:rPr lang="en-US" sz="1100" i="1" dirty="0">
                <a:solidFill>
                  <a:schemeClr val="accent4"/>
                </a:solidFill>
              </a:rPr>
              <a:t>Estimation Woolu AI</a:t>
            </a:r>
            <a:endParaRPr lang="en-US" sz="1100" dirty="0"/>
          </a:p>
        </p:txBody>
      </p:sp>
      <p:sp>
        <p:nvSpPr>
          <p:cNvPr id="21" name="Text 19"/>
          <p:cNvSpPr txBox="1"/>
          <p:nvPr/>
        </p:nvSpPr>
        <p:spPr>
          <a:xfrm>
            <a:off x="6035040" y="5897880"/>
            <a:ext cx="5577840" cy="320040"/>
          </a:xfrm>
          <a:prstGeom prst="rect">
            <a:avLst/>
          </a:prstGeom>
          <a:noFill/>
          <a:ln/>
        </p:spPr>
        <p:txBody>
          <a:bodyPr wrap="square" lIns="0" tIns="0" rIns="0" bIns="0" rtlCol="0" anchor="ctr"/>
          <a:lstStyle/>
          <a:p>
            <a:pPr indent="0" marL="0">
              <a:buNone/>
            </a:pPr>
            <a:r>
              <a:rPr lang="en-US" sz="900" dirty="0">
                <a:solidFill>
                  <a:schemeClr val="accent4"/>
                </a:solidFill>
              </a:rPr>
              <a:t>Source : BCEAO, Rapport annuel sur les services financiers numériques dans l'UEMOA, 2024. SOM : estimation.</a:t>
            </a:r>
            <a:endParaRPr lang="en-US" sz="900" dirty="0"/>
          </a:p>
        </p:txBody>
      </p:sp>
      <p:sp>
        <p:nvSpPr>
          <p:cNvPr id="25" name="Slide Number Placeholder 0"/>
          <p:cNvSpPr>
            <a:spLocks noGrp="1"/>
          </p:cNvSpPr>
          <p:nvPr>
            <p:ph type="sldNum" sz="quarter" idx="4294967295"/>
          </p:nvPr>
        </p:nvSpPr>
        <p:spPr>
          <a:xfrm>
            <a:off x="11094415" y="6309360"/>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5B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1188720"/>
          </a:xfrm>
          <a:prstGeom prst="rect">
            <a:avLst/>
          </a:prstGeom>
          <a:noFill/>
          <a:ln/>
        </p:spPr>
        <p:txBody>
          <a:bodyPr wrap="square" lIns="0" tIns="0" rIns="0" bIns="0" rtlCol="0" anchor="t"/>
          <a:lstStyle/>
          <a:p>
            <a:pPr algn="l" indent="0" marL="0">
              <a:buNone/>
            </a:pPr>
            <a:r>
              <a:rPr lang="en-US" sz="3400" b="1" dirty="0">
                <a:solidFill>
                  <a:schemeClr val="tx1"/>
                </a:solidFill>
              </a:rPr>
              <a:t>Gratuit pour les particuliers, payant pour les institutions</a:t>
            </a:r>
            <a:endParaRPr lang="en-US" sz="3400" dirty="0"/>
          </a:p>
        </p:txBody>
      </p:sp>
      <p:sp>
        <p:nvSpPr>
          <p:cNvPr id="3" name="carte-1"/>
          <p:cNvSpPr/>
          <p:nvPr/>
        </p:nvSpPr>
        <p:spPr>
          <a:xfrm>
            <a:off x="548640" y="1783080"/>
            <a:ext cx="3429000" cy="2971800"/>
          </a:xfrm>
          <a:prstGeom prst="roundRect">
            <a:avLst>
              <a:gd name="adj" fmla="val 5538"/>
            </a:avLst>
          </a:prstGeom>
          <a:solidFill>
            <a:schemeClr val="bg1"/>
          </a:solidFill>
          <a:ln/>
          <a:effectLst>
            <a:outerShdw sx="100000" sy="100000" kx="0" ky="0" algn="bl" rotWithShape="0" blurRad="177800" dist="50800" dir="5400000">
              <a:srgbClr val="0F1B2D">
                <a:alpha val="10000"/>
              </a:srgbClr>
            </a:outerShdw>
          </a:effectLst>
        </p:spPr>
      </p:sp>
      <p:sp>
        <p:nvSpPr>
          <p:cNvPr id="4" name="cercle-usersThree"/>
          <p:cNvSpPr/>
          <p:nvPr/>
        </p:nvSpPr>
        <p:spPr>
          <a:xfrm>
            <a:off x="868680" y="2103120"/>
            <a:ext cx="777240" cy="777240"/>
          </a:xfrm>
          <a:prstGeom prst="ellipse">
            <a:avLst/>
          </a:prstGeom>
          <a:solidFill>
            <a:schemeClr val="accent5"/>
          </a:solidFill>
          <a:ln/>
        </p:spPr>
      </p:sp>
      <p:pic>
        <p:nvPicPr>
          <p:cNvPr id="5" name="icone-usersThree" descr="C:\Users\DELL\AppData\Local\Temp\claude\c--MesProjets-Woolu-AI\8d19d69f-7b2a-4c76-a2dd-ac8270f9cd4f\scratchpad\deck\assets\i-usersThree-g.png">    </p:cNvPr>
          <p:cNvPicPr>
            <a:picLocks noChangeAspect="1"/>
          </p:cNvPicPr>
          <p:nvPr/>
        </p:nvPicPr>
        <p:blipFill>
          <a:blip r:embed="rId1"/>
          <a:stretch>
            <a:fillRect/>
          </a:stretch>
        </p:blipFill>
        <p:spPr>
          <a:xfrm>
            <a:off x="1055218" y="2289658"/>
            <a:ext cx="404165" cy="404165"/>
          </a:xfrm>
          <a:prstGeom prst="rect">
            <a:avLst/>
          </a:prstGeom>
        </p:spPr>
      </p:pic>
      <p:sp>
        <p:nvSpPr>
          <p:cNvPr id="6" name="Text 3"/>
          <p:cNvSpPr txBox="1"/>
          <p:nvPr/>
        </p:nvSpPr>
        <p:spPr>
          <a:xfrm>
            <a:off x="868680" y="3063240"/>
            <a:ext cx="2788920" cy="365760"/>
          </a:xfrm>
          <a:prstGeom prst="rect">
            <a:avLst/>
          </a:prstGeom>
          <a:noFill/>
          <a:ln/>
        </p:spPr>
        <p:txBody>
          <a:bodyPr wrap="square" lIns="0" tIns="0" rIns="0" bIns="0" rtlCol="0" anchor="ctr"/>
          <a:lstStyle/>
          <a:p>
            <a:pPr indent="0" marL="0">
              <a:buNone/>
            </a:pPr>
            <a:r>
              <a:rPr lang="en-US" sz="1500" dirty="0">
                <a:solidFill>
                  <a:schemeClr val="accent4"/>
                </a:solidFill>
              </a:rPr>
              <a:t>Particuliers</a:t>
            </a:r>
            <a:endParaRPr lang="en-US" sz="1500" dirty="0"/>
          </a:p>
        </p:txBody>
      </p:sp>
      <p:sp>
        <p:nvSpPr>
          <p:cNvPr id="7" name="Text 4"/>
          <p:cNvSpPr txBox="1"/>
          <p:nvPr/>
        </p:nvSpPr>
        <p:spPr>
          <a:xfrm>
            <a:off x="868680" y="3429000"/>
            <a:ext cx="2788920" cy="54864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Gratuit</a:t>
            </a:r>
            <a:endParaRPr lang="en-US" sz="2400" dirty="0"/>
          </a:p>
        </p:txBody>
      </p:sp>
      <p:sp>
        <p:nvSpPr>
          <p:cNvPr id="8" name="Text 5"/>
          <p:cNvSpPr txBox="1"/>
          <p:nvPr/>
        </p:nvSpPr>
        <p:spPr>
          <a:xfrm>
            <a:off x="868680" y="4023360"/>
            <a:ext cx="2788920" cy="365760"/>
          </a:xfrm>
          <a:prstGeom prst="rect">
            <a:avLst/>
          </a:prstGeom>
          <a:noFill/>
          <a:ln/>
        </p:spPr>
        <p:txBody>
          <a:bodyPr wrap="square" lIns="0" tIns="0" rIns="0" bIns="0" rtlCol="0" anchor="ctr"/>
          <a:lstStyle/>
          <a:p>
            <a:pPr indent="0" marL="0">
              <a:buNone/>
            </a:pPr>
            <a:r>
              <a:rPr lang="en-US" sz="1500" dirty="0">
                <a:solidFill>
                  <a:schemeClr val="tx1"/>
                </a:solidFill>
              </a:rPr>
              <a:t>Analyse et dossier</a:t>
            </a:r>
            <a:endParaRPr lang="en-US" sz="1500" dirty="0"/>
          </a:p>
        </p:txBody>
      </p:sp>
      <p:sp>
        <p:nvSpPr>
          <p:cNvPr id="9" name="carte-2"/>
          <p:cNvSpPr/>
          <p:nvPr/>
        </p:nvSpPr>
        <p:spPr>
          <a:xfrm>
            <a:off x="4366260" y="1783080"/>
            <a:ext cx="3429000" cy="2971800"/>
          </a:xfrm>
          <a:prstGeom prst="roundRect">
            <a:avLst>
              <a:gd name="adj" fmla="val 5538"/>
            </a:avLst>
          </a:prstGeom>
          <a:solidFill>
            <a:schemeClr val="tx2"/>
          </a:solidFill>
          <a:ln/>
          <a:effectLst>
            <a:outerShdw sx="100000" sy="100000" kx="0" ky="0" algn="bl" rotWithShape="0" blurRad="177800" dist="50800" dir="5400000">
              <a:srgbClr val="0F1B2D">
                <a:alpha val="10000"/>
              </a:srgbClr>
            </a:outerShdw>
          </a:effectLst>
        </p:spPr>
      </p:sp>
      <p:sp>
        <p:nvSpPr>
          <p:cNvPr id="10" name="cercle-bank"/>
          <p:cNvSpPr/>
          <p:nvPr/>
        </p:nvSpPr>
        <p:spPr>
          <a:xfrm>
            <a:off x="4686300" y="2103120"/>
            <a:ext cx="777240" cy="777240"/>
          </a:xfrm>
          <a:prstGeom prst="ellipse">
            <a:avLst/>
          </a:prstGeom>
          <a:solidFill>
            <a:schemeClr val="accent2"/>
          </a:solidFill>
          <a:ln/>
        </p:spPr>
      </p:sp>
      <p:pic>
        <p:nvPicPr>
          <p:cNvPr id="11" name="icone-bank" descr="C:\Users\DELL\AppData\Local\Temp\claude\c--MesProjets-Woolu-AI\8d19d69f-7b2a-4c76-a2dd-ac8270f9cd4f\scratchpad\deck\assets\i-bank-w.png">    </p:cNvPr>
          <p:cNvPicPr>
            <a:picLocks noChangeAspect="1"/>
          </p:cNvPicPr>
          <p:nvPr/>
        </p:nvPicPr>
        <p:blipFill>
          <a:blip r:embed="rId2"/>
          <a:stretch>
            <a:fillRect/>
          </a:stretch>
        </p:blipFill>
        <p:spPr>
          <a:xfrm>
            <a:off x="4872838" y="2289658"/>
            <a:ext cx="404165" cy="404165"/>
          </a:xfrm>
          <a:prstGeom prst="rect">
            <a:avLst/>
          </a:prstGeom>
        </p:spPr>
      </p:pic>
      <p:sp>
        <p:nvSpPr>
          <p:cNvPr id="12" name="Text 8"/>
          <p:cNvSpPr txBox="1"/>
          <p:nvPr/>
        </p:nvSpPr>
        <p:spPr>
          <a:xfrm>
            <a:off x="4686300" y="3063240"/>
            <a:ext cx="2788920" cy="365760"/>
          </a:xfrm>
          <a:prstGeom prst="rect">
            <a:avLst/>
          </a:prstGeom>
          <a:noFill/>
          <a:ln/>
        </p:spPr>
        <p:txBody>
          <a:bodyPr wrap="square" lIns="0" tIns="0" rIns="0" bIns="0" rtlCol="0" anchor="ctr"/>
          <a:lstStyle/>
          <a:p>
            <a:pPr indent="0" marL="0">
              <a:buNone/>
            </a:pPr>
            <a:r>
              <a:rPr lang="en-US" sz="1500" dirty="0">
                <a:solidFill>
                  <a:schemeClr val="accent5"/>
                </a:solidFill>
              </a:rPr>
              <a:t>Institutions</a:t>
            </a:r>
            <a:endParaRPr lang="en-US" sz="1500" dirty="0"/>
          </a:p>
        </p:txBody>
      </p:sp>
      <p:sp>
        <p:nvSpPr>
          <p:cNvPr id="13" name="Text 9"/>
          <p:cNvSpPr txBox="1"/>
          <p:nvPr/>
        </p:nvSpPr>
        <p:spPr>
          <a:xfrm>
            <a:off x="4686300" y="3429000"/>
            <a:ext cx="2788920" cy="548640"/>
          </a:xfrm>
          <a:prstGeom prst="rect">
            <a:avLst/>
          </a:prstGeom>
          <a:noFill/>
          <a:ln/>
        </p:spPr>
        <p:txBody>
          <a:bodyPr wrap="square" lIns="0" tIns="0" rIns="0" bIns="0" rtlCol="0" anchor="ctr"/>
          <a:lstStyle/>
          <a:p>
            <a:pPr indent="0" marL="0">
              <a:buNone/>
            </a:pPr>
            <a:r>
              <a:rPr lang="en-US" sz="2400" b="1" dirty="0">
                <a:solidFill>
                  <a:schemeClr val="bg1"/>
                </a:solidFill>
                <a:latin typeface="+mj-lt" pitchFamily="34" charset="0"/>
                <a:ea typeface="+mj-lt" pitchFamily="34" charset="-122"/>
                <a:cs typeface="+mj-lt" pitchFamily="34" charset="-120"/>
              </a:rPr>
              <a:t>150 000 FCFA / mois</a:t>
            </a:r>
            <a:endParaRPr lang="en-US" sz="2400" dirty="0"/>
          </a:p>
        </p:txBody>
      </p:sp>
      <p:sp>
        <p:nvSpPr>
          <p:cNvPr id="14" name="Text 10"/>
          <p:cNvSpPr txBox="1"/>
          <p:nvPr/>
        </p:nvSpPr>
        <p:spPr>
          <a:xfrm>
            <a:off x="4686300" y="4023360"/>
            <a:ext cx="2788920" cy="365760"/>
          </a:xfrm>
          <a:prstGeom prst="rect">
            <a:avLst/>
          </a:prstGeom>
          <a:noFill/>
          <a:ln/>
        </p:spPr>
        <p:txBody>
          <a:bodyPr wrap="square" lIns="0" tIns="0" rIns="0" bIns="0" rtlCol="0" anchor="ctr"/>
          <a:lstStyle/>
          <a:p>
            <a:pPr indent="0" marL="0">
              <a:buNone/>
            </a:pPr>
            <a:r>
              <a:rPr lang="en-US" sz="1500" dirty="0">
                <a:solidFill>
                  <a:schemeClr val="bg1"/>
                </a:solidFill>
              </a:rPr>
              <a:t>Marque blanche</a:t>
            </a:r>
            <a:endParaRPr lang="en-US" sz="1500" dirty="0"/>
          </a:p>
        </p:txBody>
      </p:sp>
      <p:sp>
        <p:nvSpPr>
          <p:cNvPr id="15" name="carte-3"/>
          <p:cNvSpPr/>
          <p:nvPr/>
        </p:nvSpPr>
        <p:spPr>
          <a:xfrm>
            <a:off x="8183880" y="1783080"/>
            <a:ext cx="3429000" cy="2971800"/>
          </a:xfrm>
          <a:prstGeom prst="roundRect">
            <a:avLst>
              <a:gd name="adj" fmla="val 5538"/>
            </a:avLst>
          </a:prstGeom>
          <a:solidFill>
            <a:schemeClr val="bg1"/>
          </a:solidFill>
          <a:ln/>
          <a:effectLst>
            <a:outerShdw sx="100000" sy="100000" kx="0" ky="0" algn="bl" rotWithShape="0" blurRad="177800" dist="50800" dir="5400000">
              <a:srgbClr val="0F1B2D">
                <a:alpha val="10000"/>
              </a:srgbClr>
            </a:outerShdw>
          </a:effectLst>
        </p:spPr>
      </p:sp>
      <p:sp>
        <p:nvSpPr>
          <p:cNvPr id="16" name="cercle-plugsConnected"/>
          <p:cNvSpPr/>
          <p:nvPr/>
        </p:nvSpPr>
        <p:spPr>
          <a:xfrm>
            <a:off x="8503920" y="2103120"/>
            <a:ext cx="777240" cy="777240"/>
          </a:xfrm>
          <a:prstGeom prst="ellipse">
            <a:avLst/>
          </a:prstGeom>
          <a:solidFill>
            <a:schemeClr val="accent5"/>
          </a:solidFill>
          <a:ln/>
        </p:spPr>
      </p:sp>
      <p:pic>
        <p:nvPicPr>
          <p:cNvPr id="17" name="icone-plugsConnected" descr="C:\Users\DELL\AppData\Local\Temp\claude\c--MesProjets-Woolu-AI\8d19d69f-7b2a-4c76-a2dd-ac8270f9cd4f\scratchpad\deck\assets\i-plugsConnected-g.png">    </p:cNvPr>
          <p:cNvPicPr>
            <a:picLocks noChangeAspect="1"/>
          </p:cNvPicPr>
          <p:nvPr/>
        </p:nvPicPr>
        <p:blipFill>
          <a:blip r:embed="rId3"/>
          <a:stretch>
            <a:fillRect/>
          </a:stretch>
        </p:blipFill>
        <p:spPr>
          <a:xfrm>
            <a:off x="8690458" y="2289658"/>
            <a:ext cx="404165" cy="404165"/>
          </a:xfrm>
          <a:prstGeom prst="rect">
            <a:avLst/>
          </a:prstGeom>
        </p:spPr>
      </p:pic>
      <p:sp>
        <p:nvSpPr>
          <p:cNvPr id="18" name="Text 13"/>
          <p:cNvSpPr txBox="1"/>
          <p:nvPr/>
        </p:nvSpPr>
        <p:spPr>
          <a:xfrm>
            <a:off x="8503920" y="3063240"/>
            <a:ext cx="2788920" cy="365760"/>
          </a:xfrm>
          <a:prstGeom prst="rect">
            <a:avLst/>
          </a:prstGeom>
          <a:noFill/>
          <a:ln/>
        </p:spPr>
        <p:txBody>
          <a:bodyPr wrap="square" lIns="0" tIns="0" rIns="0" bIns="0" rtlCol="0" anchor="ctr"/>
          <a:lstStyle/>
          <a:p>
            <a:pPr indent="0" marL="0">
              <a:buNone/>
            </a:pPr>
            <a:r>
              <a:rPr lang="en-US" sz="1500" dirty="0">
                <a:solidFill>
                  <a:schemeClr val="accent4"/>
                </a:solidFill>
              </a:rPr>
              <a:t>API réclamations</a:t>
            </a:r>
            <a:endParaRPr lang="en-US" sz="1500" dirty="0"/>
          </a:p>
        </p:txBody>
      </p:sp>
      <p:sp>
        <p:nvSpPr>
          <p:cNvPr id="19" name="Text 14"/>
          <p:cNvSpPr txBox="1"/>
          <p:nvPr/>
        </p:nvSpPr>
        <p:spPr>
          <a:xfrm>
            <a:off x="8503920" y="3429000"/>
            <a:ext cx="2788920" cy="54864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50 FCFA / dossier</a:t>
            </a:r>
            <a:endParaRPr lang="en-US" sz="2400" dirty="0"/>
          </a:p>
        </p:txBody>
      </p:sp>
      <p:sp>
        <p:nvSpPr>
          <p:cNvPr id="20" name="Text 15"/>
          <p:cNvSpPr txBox="1"/>
          <p:nvPr/>
        </p:nvSpPr>
        <p:spPr>
          <a:xfrm>
            <a:off x="8503920" y="4023360"/>
            <a:ext cx="2788920" cy="365760"/>
          </a:xfrm>
          <a:prstGeom prst="rect">
            <a:avLst/>
          </a:prstGeom>
          <a:noFill/>
          <a:ln/>
        </p:spPr>
        <p:txBody>
          <a:bodyPr wrap="square" lIns="0" tIns="0" rIns="0" bIns="0" rtlCol="0" anchor="ctr"/>
          <a:lstStyle/>
          <a:p>
            <a:pPr indent="0" marL="0">
              <a:buNone/>
            </a:pPr>
            <a:r>
              <a:rPr lang="en-US" sz="1500" dirty="0">
                <a:solidFill>
                  <a:schemeClr val="tx1"/>
                </a:solidFill>
              </a:rPr>
              <a:t>Opérateurs, services clients</a:t>
            </a:r>
            <a:endParaRPr lang="en-US" sz="1500" dirty="0"/>
          </a:p>
        </p:txBody>
      </p:sp>
      <p:sp>
        <p:nvSpPr>
          <p:cNvPr id="21" name="bandeau-marges"/>
          <p:cNvSpPr/>
          <p:nvPr/>
        </p:nvSpPr>
        <p:spPr>
          <a:xfrm>
            <a:off x="548640" y="5029200"/>
            <a:ext cx="11094415" cy="960120"/>
          </a:xfrm>
          <a:prstGeom prst="roundRect">
            <a:avLst>
              <a:gd name="adj" fmla="val 14286"/>
            </a:avLst>
          </a:prstGeom>
          <a:solidFill>
            <a:schemeClr val="accent5"/>
          </a:solidFill>
          <a:ln/>
        </p:spPr>
      </p:sp>
      <p:sp>
        <p:nvSpPr>
          <p:cNvPr id="22" name="Text 17"/>
          <p:cNvSpPr txBox="1"/>
          <p:nvPr/>
        </p:nvSpPr>
        <p:spPr>
          <a:xfrm>
            <a:off x="960120" y="5120640"/>
            <a:ext cx="1737360" cy="777240"/>
          </a:xfrm>
          <a:prstGeom prst="rect">
            <a:avLst/>
          </a:prstGeom>
          <a:noFill/>
          <a:ln/>
        </p:spPr>
        <p:txBody>
          <a:bodyPr wrap="square" lIns="0" tIns="0" rIns="0" bIns="0" rtlCol="0" anchor="ctr"/>
          <a:lstStyle/>
          <a:p>
            <a:pPr indent="0" marL="0">
              <a:buNone/>
            </a:pPr>
            <a:r>
              <a:rPr lang="en-US" sz="2800" b="1" dirty="0">
                <a:solidFill>
                  <a:schemeClr val="tx2"/>
                </a:solidFill>
                <a:latin typeface="+mj-lt" pitchFamily="34" charset="0"/>
                <a:ea typeface="+mj-lt" pitchFamily="34" charset="-122"/>
                <a:cs typeface="+mj-lt" pitchFamily="34" charset="-120"/>
              </a:rPr>
              <a:t>&lt; 1 FCFA</a:t>
            </a:r>
            <a:endParaRPr lang="en-US" sz="2800" dirty="0"/>
          </a:p>
        </p:txBody>
      </p:sp>
      <p:sp>
        <p:nvSpPr>
          <p:cNvPr id="23" name="Text 18"/>
          <p:cNvSpPr txBox="1"/>
          <p:nvPr/>
        </p:nvSpPr>
        <p:spPr>
          <a:xfrm>
            <a:off x="2743200" y="5120640"/>
            <a:ext cx="1828800" cy="777240"/>
          </a:xfrm>
          <a:prstGeom prst="rect">
            <a:avLst/>
          </a:prstGeom>
          <a:noFill/>
          <a:ln/>
        </p:spPr>
        <p:txBody>
          <a:bodyPr wrap="square" lIns="0" tIns="0" rIns="0" bIns="0" rtlCol="0" anchor="ctr"/>
          <a:lstStyle/>
          <a:p>
            <a:pPr indent="0" marL="0">
              <a:buNone/>
            </a:pPr>
            <a:r>
              <a:rPr lang="en-US" sz="1500" dirty="0">
                <a:solidFill>
                  <a:schemeClr val="tx2"/>
                </a:solidFill>
              </a:rPr>
              <a:t>coût IA par analyse</a:t>
            </a:r>
            <a:endParaRPr lang="en-US" sz="1500" dirty="0"/>
          </a:p>
        </p:txBody>
      </p:sp>
      <p:sp>
        <p:nvSpPr>
          <p:cNvPr id="24" name="Text 19"/>
          <p:cNvSpPr txBox="1"/>
          <p:nvPr/>
        </p:nvSpPr>
        <p:spPr>
          <a:xfrm>
            <a:off x="4800600" y="5120640"/>
            <a:ext cx="1737360" cy="777240"/>
          </a:xfrm>
          <a:prstGeom prst="rect">
            <a:avLst/>
          </a:prstGeom>
          <a:noFill/>
          <a:ln/>
        </p:spPr>
        <p:txBody>
          <a:bodyPr wrap="square" lIns="0" tIns="0" rIns="0" bIns="0" rtlCol="0" anchor="ctr"/>
          <a:lstStyle/>
          <a:p>
            <a:pPr indent="0" marL="0">
              <a:buNone/>
            </a:pPr>
            <a:r>
              <a:rPr lang="en-US" sz="2800" b="1" dirty="0">
                <a:solidFill>
                  <a:schemeClr val="tx2"/>
                </a:solidFill>
                <a:latin typeface="+mj-lt" pitchFamily="34" charset="0"/>
                <a:ea typeface="+mj-lt" pitchFamily="34" charset="-122"/>
                <a:cs typeface="+mj-lt" pitchFamily="34" charset="-120"/>
              </a:rPr>
              <a:t>≈ 85 %</a:t>
            </a:r>
            <a:endParaRPr lang="en-US" sz="2800" dirty="0"/>
          </a:p>
        </p:txBody>
      </p:sp>
      <p:sp>
        <p:nvSpPr>
          <p:cNvPr id="25" name="Text 20"/>
          <p:cNvSpPr txBox="1"/>
          <p:nvPr/>
        </p:nvSpPr>
        <p:spPr>
          <a:xfrm>
            <a:off x="6583680" y="5120640"/>
            <a:ext cx="1828800" cy="777240"/>
          </a:xfrm>
          <a:prstGeom prst="rect">
            <a:avLst/>
          </a:prstGeom>
          <a:noFill/>
          <a:ln/>
        </p:spPr>
        <p:txBody>
          <a:bodyPr wrap="square" lIns="0" tIns="0" rIns="0" bIns="0" rtlCol="0" anchor="ctr"/>
          <a:lstStyle/>
          <a:p>
            <a:pPr indent="0" marL="0">
              <a:buNone/>
            </a:pPr>
            <a:r>
              <a:rPr lang="en-US" sz="1500" dirty="0">
                <a:solidFill>
                  <a:schemeClr val="tx2"/>
                </a:solidFill>
              </a:rPr>
              <a:t>marge brute visée</a:t>
            </a:r>
            <a:endParaRPr lang="en-US" sz="1500" dirty="0"/>
          </a:p>
        </p:txBody>
      </p:sp>
      <p:sp>
        <p:nvSpPr>
          <p:cNvPr id="26" name="Text 21"/>
          <p:cNvSpPr txBox="1"/>
          <p:nvPr/>
        </p:nvSpPr>
        <p:spPr>
          <a:xfrm>
            <a:off x="8412480" y="5120640"/>
            <a:ext cx="3017520" cy="777240"/>
          </a:xfrm>
          <a:prstGeom prst="rect">
            <a:avLst/>
          </a:prstGeom>
          <a:noFill/>
          <a:ln/>
        </p:spPr>
        <p:txBody>
          <a:bodyPr wrap="square" lIns="0" tIns="0" rIns="0" bIns="0" rtlCol="0" anchor="ctr"/>
          <a:lstStyle/>
          <a:p>
            <a:pPr algn="r" indent="0" marL="0">
              <a:buNone/>
            </a:pPr>
            <a:r>
              <a:rPr lang="en-US" sz="1100" i="1" dirty="0">
                <a:solidFill>
                  <a:schemeClr val="tx2"/>
                </a:solidFill>
              </a:rPr>
              <a:t>Estimations, tarifs publics de l'API Groq</a:t>
            </a:r>
            <a:endParaRPr lang="en-US" sz="1100" dirty="0"/>
          </a:p>
        </p:txBody>
      </p:sp>
      <p:sp>
        <p:nvSpPr>
          <p:cNvPr id="25" name="Slide Number Placeholder 0"/>
          <p:cNvSpPr>
            <a:spLocks noGrp="1"/>
          </p:cNvSpPr>
          <p:nvPr>
            <p:ph type="sldNum" sz="quarter" idx="4294967295"/>
          </p:nvPr>
        </p:nvSpPr>
        <p:spPr>
          <a:xfrm>
            <a:off x="11094415" y="6309360"/>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5B6B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1188720"/>
          </a:xfrm>
          <a:prstGeom prst="rect">
            <a:avLst/>
          </a:prstGeom>
          <a:noFill/>
          <a:ln/>
        </p:spPr>
        <p:txBody>
          <a:bodyPr wrap="square" lIns="0" tIns="0" rIns="0" bIns="0" rtlCol="0" anchor="t"/>
          <a:lstStyle/>
          <a:p>
            <a:pPr algn="l" indent="0" marL="0">
              <a:buNone/>
            </a:pPr>
            <a:r>
              <a:rPr lang="en-US" sz="3400" b="1" dirty="0">
                <a:solidFill>
                  <a:schemeClr val="tx1"/>
                </a:solidFill>
              </a:rPr>
              <a:t>Premier marché : les clients des microfinances de Dakar et Thiès</a:t>
            </a:r>
            <a:endParaRPr lang="en-US" sz="3400" dirty="0"/>
          </a:p>
        </p:txBody>
      </p:sp>
      <p:sp>
        <p:nvSpPr>
          <p:cNvPr id="3" name="Text 1"/>
          <p:cNvSpPr txBox="1"/>
          <p:nvPr/>
        </p:nvSpPr>
        <p:spPr>
          <a:xfrm>
            <a:off x="548640" y="1828800"/>
            <a:ext cx="3657600" cy="411480"/>
          </a:xfrm>
          <a:prstGeom prst="rect">
            <a:avLst/>
          </a:prstGeom>
          <a:noFill/>
          <a:ln/>
        </p:spPr>
        <p:txBody>
          <a:bodyPr wrap="square" lIns="0" tIns="0" rIns="0" bIns="0" rtlCol="0" anchor="ctr"/>
          <a:lstStyle/>
          <a:p>
            <a:pPr indent="0" marL="0">
              <a:buNone/>
            </a:pPr>
            <a:r>
              <a:rPr lang="en-US" sz="1800" b="1" dirty="0">
                <a:solidFill>
                  <a:schemeClr val="accent1"/>
                </a:solidFill>
              </a:rPr>
              <a:t>Canaux</a:t>
            </a:r>
            <a:endParaRPr lang="en-US" sz="1800" dirty="0"/>
          </a:p>
        </p:txBody>
      </p:sp>
      <p:sp>
        <p:nvSpPr>
          <p:cNvPr id="4" name="cercle-buildings"/>
          <p:cNvSpPr/>
          <p:nvPr/>
        </p:nvSpPr>
        <p:spPr>
          <a:xfrm>
            <a:off x="548640" y="2423160"/>
            <a:ext cx="777240" cy="777240"/>
          </a:xfrm>
          <a:prstGeom prst="ellipse">
            <a:avLst/>
          </a:prstGeom>
          <a:solidFill>
            <a:schemeClr val="accent1"/>
          </a:solidFill>
          <a:ln/>
        </p:spPr>
      </p:sp>
      <p:pic>
        <p:nvPicPr>
          <p:cNvPr id="5" name="icone-buildings" descr="C:\Users\DELL\AppData\Local\Temp\claude\c--MesProjets-Woolu-AI\8d19d69f-7b2a-4c76-a2dd-ac8270f9cd4f\scratchpad\deck\assets\i-buildings-w.png">    </p:cNvPr>
          <p:cNvPicPr>
            <a:picLocks noChangeAspect="1"/>
          </p:cNvPicPr>
          <p:nvPr/>
        </p:nvPicPr>
        <p:blipFill>
          <a:blip r:embed="rId1"/>
          <a:stretch>
            <a:fillRect/>
          </a:stretch>
        </p:blipFill>
        <p:spPr>
          <a:xfrm>
            <a:off x="735178" y="2609698"/>
            <a:ext cx="404165" cy="404165"/>
          </a:xfrm>
          <a:prstGeom prst="rect">
            <a:avLst/>
          </a:prstGeom>
        </p:spPr>
      </p:pic>
      <p:sp>
        <p:nvSpPr>
          <p:cNvPr id="6" name="Text 3"/>
          <p:cNvSpPr txBox="1"/>
          <p:nvPr/>
        </p:nvSpPr>
        <p:spPr>
          <a:xfrm>
            <a:off x="1554480" y="2423160"/>
            <a:ext cx="2926080" cy="777240"/>
          </a:xfrm>
          <a:prstGeom prst="rect">
            <a:avLst/>
          </a:prstGeom>
          <a:noFill/>
          <a:ln/>
        </p:spPr>
        <p:txBody>
          <a:bodyPr wrap="square" lIns="0" tIns="0" rIns="0" bIns="0" rtlCol="0" anchor="ctr"/>
          <a:lstStyle/>
          <a:p>
            <a:pPr indent="0" marL="0">
              <a:buNone/>
            </a:pPr>
            <a:r>
              <a:rPr lang="en-US" sz="1800" b="1" dirty="0">
                <a:solidFill>
                  <a:schemeClr val="tx1"/>
                </a:solidFill>
              </a:rPr>
              <a:t>Agences IMF</a:t>
            </a:r>
            <a:endParaRPr lang="en-US" sz="1800" dirty="0"/>
          </a:p>
        </p:txBody>
      </p:sp>
      <p:sp>
        <p:nvSpPr>
          <p:cNvPr id="7" name="cercle-usersThree"/>
          <p:cNvSpPr/>
          <p:nvPr/>
        </p:nvSpPr>
        <p:spPr>
          <a:xfrm>
            <a:off x="548640" y="3474720"/>
            <a:ext cx="777240" cy="777240"/>
          </a:xfrm>
          <a:prstGeom prst="ellipse">
            <a:avLst/>
          </a:prstGeom>
          <a:solidFill>
            <a:schemeClr val="accent1"/>
          </a:solidFill>
          <a:ln/>
        </p:spPr>
      </p:sp>
      <p:pic>
        <p:nvPicPr>
          <p:cNvPr id="8" name="icone-usersThree" descr="C:\Users\DELL\AppData\Local\Temp\claude\c--MesProjets-Woolu-AI\8d19d69f-7b2a-4c76-a2dd-ac8270f9cd4f\scratchpad\deck\assets\i-usersThree-w.png">    </p:cNvPr>
          <p:cNvPicPr>
            <a:picLocks noChangeAspect="1"/>
          </p:cNvPicPr>
          <p:nvPr/>
        </p:nvPicPr>
        <p:blipFill>
          <a:blip r:embed="rId2"/>
          <a:stretch>
            <a:fillRect/>
          </a:stretch>
        </p:blipFill>
        <p:spPr>
          <a:xfrm>
            <a:off x="735178" y="3661258"/>
            <a:ext cx="404165" cy="404165"/>
          </a:xfrm>
          <a:prstGeom prst="rect">
            <a:avLst/>
          </a:prstGeom>
        </p:spPr>
      </p:pic>
      <p:sp>
        <p:nvSpPr>
          <p:cNvPr id="9" name="Text 5"/>
          <p:cNvSpPr txBox="1"/>
          <p:nvPr/>
        </p:nvSpPr>
        <p:spPr>
          <a:xfrm>
            <a:off x="1554480" y="3474720"/>
            <a:ext cx="2926080" cy="777240"/>
          </a:xfrm>
          <a:prstGeom prst="rect">
            <a:avLst/>
          </a:prstGeom>
          <a:noFill/>
          <a:ln/>
        </p:spPr>
        <p:txBody>
          <a:bodyPr wrap="square" lIns="0" tIns="0" rIns="0" bIns="0" rtlCol="0" anchor="ctr"/>
          <a:lstStyle/>
          <a:p>
            <a:pPr indent="0" marL="0">
              <a:buNone/>
            </a:pPr>
            <a:r>
              <a:rPr lang="en-US" sz="1800" b="1" dirty="0">
                <a:solidFill>
                  <a:schemeClr val="tx1"/>
                </a:solidFill>
              </a:rPr>
              <a:t>Associations</a:t>
            </a:r>
            <a:endParaRPr lang="en-US" sz="1800" dirty="0"/>
          </a:p>
        </p:txBody>
      </p:sp>
      <p:sp>
        <p:nvSpPr>
          <p:cNvPr id="10" name="cercle-whatsappLogo"/>
          <p:cNvSpPr/>
          <p:nvPr/>
        </p:nvSpPr>
        <p:spPr>
          <a:xfrm>
            <a:off x="548640" y="4526280"/>
            <a:ext cx="777240" cy="777240"/>
          </a:xfrm>
          <a:prstGeom prst="ellipse">
            <a:avLst/>
          </a:prstGeom>
          <a:solidFill>
            <a:schemeClr val="accent1"/>
          </a:solidFill>
          <a:ln/>
        </p:spPr>
      </p:sp>
      <p:pic>
        <p:nvPicPr>
          <p:cNvPr id="11" name="icone-whatsappLogo" descr="C:\Users\DELL\AppData\Local\Temp\claude\c--MesProjets-Woolu-AI\8d19d69f-7b2a-4c76-a2dd-ac8270f9cd4f\scratchpad\deck\assets\i-whatsappLogo-w.png">    </p:cNvPr>
          <p:cNvPicPr>
            <a:picLocks noChangeAspect="1"/>
          </p:cNvPicPr>
          <p:nvPr/>
        </p:nvPicPr>
        <p:blipFill>
          <a:blip r:embed="rId3"/>
          <a:stretch>
            <a:fillRect/>
          </a:stretch>
        </p:blipFill>
        <p:spPr>
          <a:xfrm>
            <a:off x="735178" y="4712818"/>
            <a:ext cx="404165" cy="404165"/>
          </a:xfrm>
          <a:prstGeom prst="rect">
            <a:avLst/>
          </a:prstGeom>
        </p:spPr>
      </p:pic>
      <p:sp>
        <p:nvSpPr>
          <p:cNvPr id="12" name="Text 7"/>
          <p:cNvSpPr txBox="1"/>
          <p:nvPr/>
        </p:nvSpPr>
        <p:spPr>
          <a:xfrm>
            <a:off x="1554480" y="4526280"/>
            <a:ext cx="2926080" cy="777240"/>
          </a:xfrm>
          <a:prstGeom prst="rect">
            <a:avLst/>
          </a:prstGeom>
          <a:noFill/>
          <a:ln/>
        </p:spPr>
        <p:txBody>
          <a:bodyPr wrap="square" lIns="0" tIns="0" rIns="0" bIns="0" rtlCol="0" anchor="ctr"/>
          <a:lstStyle/>
          <a:p>
            <a:pPr indent="0" marL="0">
              <a:buNone/>
            </a:pPr>
            <a:r>
              <a:rPr lang="en-US" sz="1800" b="1" dirty="0">
                <a:solidFill>
                  <a:schemeClr val="tx1"/>
                </a:solidFill>
              </a:rPr>
              <a:t>WhatsApp commerçants</a:t>
            </a:r>
            <a:endParaRPr lang="en-US" sz="1800" dirty="0"/>
          </a:p>
        </p:txBody>
      </p:sp>
      <p:sp>
        <p:nvSpPr>
          <p:cNvPr id="13" name="carte-90-jours"/>
          <p:cNvSpPr/>
          <p:nvPr/>
        </p:nvSpPr>
        <p:spPr>
          <a:xfrm>
            <a:off x="4846320" y="1828800"/>
            <a:ext cx="6793992" cy="3200400"/>
          </a:xfrm>
          <a:prstGeom prst="roundRect">
            <a:avLst>
              <a:gd name="adj" fmla="val 5143"/>
            </a:avLst>
          </a:prstGeom>
          <a:solidFill>
            <a:schemeClr val="bg1"/>
          </a:solidFill>
          <a:ln/>
          <a:effectLst>
            <a:outerShdw sx="100000" sy="100000" kx="0" ky="0" algn="bl" rotWithShape="0" blurRad="177800" dist="50800" dir="5400000">
              <a:srgbClr val="0F1B2D">
                <a:alpha val="10000"/>
              </a:srgbClr>
            </a:outerShdw>
          </a:effectLst>
        </p:spPr>
      </p:sp>
      <p:sp>
        <p:nvSpPr>
          <p:cNvPr id="14" name="Text 9"/>
          <p:cNvSpPr txBox="1"/>
          <p:nvPr/>
        </p:nvSpPr>
        <p:spPr>
          <a:xfrm>
            <a:off x="5257800" y="2103120"/>
            <a:ext cx="3657600" cy="411480"/>
          </a:xfrm>
          <a:prstGeom prst="rect">
            <a:avLst/>
          </a:prstGeom>
          <a:noFill/>
          <a:ln/>
        </p:spPr>
        <p:txBody>
          <a:bodyPr wrap="square" lIns="0" tIns="0" rIns="0" bIns="0" rtlCol="0" anchor="ctr"/>
          <a:lstStyle/>
          <a:p>
            <a:pPr indent="0" marL="0">
              <a:buNone/>
            </a:pPr>
            <a:r>
              <a:rPr lang="en-US" sz="1800" b="1" dirty="0">
                <a:solidFill>
                  <a:schemeClr val="accent1"/>
                </a:solidFill>
              </a:rPr>
              <a:t>90 jours</a:t>
            </a:r>
            <a:endParaRPr lang="en-US" sz="1800" dirty="0"/>
          </a:p>
        </p:txBody>
      </p:sp>
      <p:sp>
        <p:nvSpPr>
          <p:cNvPr id="15" name="frise"/>
          <p:cNvSpPr/>
          <p:nvPr/>
        </p:nvSpPr>
        <p:spPr>
          <a:xfrm>
            <a:off x="5760720" y="3703320"/>
            <a:ext cx="4937760" cy="0"/>
          </a:xfrm>
          <a:prstGeom prst="line">
            <a:avLst/>
          </a:prstGeom>
          <a:noFill/>
          <a:ln w="50800">
            <a:solidFill>
              <a:schemeClr val="accent5"/>
            </a:solidFill>
            <a:prstDash val="solid"/>
          </a:ln>
        </p:spPr>
      </p:sp>
      <p:sp>
        <p:nvSpPr>
          <p:cNvPr id="16" name="jalon-J30"/>
          <p:cNvSpPr/>
          <p:nvPr/>
        </p:nvSpPr>
        <p:spPr>
          <a:xfrm>
            <a:off x="5559552" y="3502152"/>
            <a:ext cx="402336" cy="402336"/>
          </a:xfrm>
          <a:prstGeom prst="ellipse">
            <a:avLst/>
          </a:prstGeom>
          <a:solidFill>
            <a:schemeClr val="accent1"/>
          </a:solidFill>
          <a:ln w="38100">
            <a:solidFill>
              <a:schemeClr val="bg1"/>
            </a:solidFill>
            <a:prstDash val="solid"/>
          </a:ln>
        </p:spPr>
      </p:sp>
      <p:sp>
        <p:nvSpPr>
          <p:cNvPr id="17" name="Text 12"/>
          <p:cNvSpPr txBox="1"/>
          <p:nvPr/>
        </p:nvSpPr>
        <p:spPr>
          <a:xfrm>
            <a:off x="4754880" y="2743200"/>
            <a:ext cx="2011680" cy="548640"/>
          </a:xfrm>
          <a:prstGeom prst="rect">
            <a:avLst/>
          </a:prstGeom>
          <a:no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J30</a:t>
            </a:r>
            <a:endParaRPr lang="en-US" sz="2800" dirty="0"/>
          </a:p>
        </p:txBody>
      </p:sp>
      <p:sp>
        <p:nvSpPr>
          <p:cNvPr id="18" name="Text 13"/>
          <p:cNvSpPr txBox="1"/>
          <p:nvPr/>
        </p:nvSpPr>
        <p:spPr>
          <a:xfrm>
            <a:off x="4663440" y="4114800"/>
            <a:ext cx="2194560" cy="822960"/>
          </a:xfrm>
          <a:prstGeom prst="rect">
            <a:avLst/>
          </a:prstGeom>
          <a:noFill/>
          <a:ln/>
        </p:spPr>
        <p:txBody>
          <a:bodyPr wrap="square" lIns="0" tIns="0" rIns="0" bIns="0" rtlCol="0" anchor="t"/>
          <a:lstStyle/>
          <a:p>
            <a:pPr algn="ctr" indent="0" marL="0">
              <a:buNone/>
            </a:pPr>
            <a:r>
              <a:rPr lang="en-US" sz="1500" dirty="0">
                <a:solidFill>
                  <a:schemeClr val="accent4"/>
                </a:solidFill>
              </a:rPr>
              <a:t>20 entretiens</a:t>
            </a:r>
            <a:endParaRPr lang="en-US" sz="1500" dirty="0"/>
          </a:p>
        </p:txBody>
      </p:sp>
      <p:sp>
        <p:nvSpPr>
          <p:cNvPr id="19" name="jalon-J60"/>
          <p:cNvSpPr/>
          <p:nvPr/>
        </p:nvSpPr>
        <p:spPr>
          <a:xfrm>
            <a:off x="8028432" y="3502152"/>
            <a:ext cx="402336" cy="402336"/>
          </a:xfrm>
          <a:prstGeom prst="ellipse">
            <a:avLst/>
          </a:prstGeom>
          <a:solidFill>
            <a:schemeClr val="accent1"/>
          </a:solidFill>
          <a:ln w="38100">
            <a:solidFill>
              <a:schemeClr val="bg1"/>
            </a:solidFill>
            <a:prstDash val="solid"/>
          </a:ln>
        </p:spPr>
      </p:sp>
      <p:sp>
        <p:nvSpPr>
          <p:cNvPr id="20" name="Text 15"/>
          <p:cNvSpPr txBox="1"/>
          <p:nvPr/>
        </p:nvSpPr>
        <p:spPr>
          <a:xfrm>
            <a:off x="7223760" y="2743200"/>
            <a:ext cx="2011680" cy="548640"/>
          </a:xfrm>
          <a:prstGeom prst="rect">
            <a:avLst/>
          </a:prstGeom>
          <a:no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J60</a:t>
            </a:r>
            <a:endParaRPr lang="en-US" sz="2800" dirty="0"/>
          </a:p>
        </p:txBody>
      </p:sp>
      <p:sp>
        <p:nvSpPr>
          <p:cNvPr id="21" name="Text 16"/>
          <p:cNvSpPr txBox="1"/>
          <p:nvPr/>
        </p:nvSpPr>
        <p:spPr>
          <a:xfrm>
            <a:off x="7132320" y="4114800"/>
            <a:ext cx="2194560" cy="822960"/>
          </a:xfrm>
          <a:prstGeom prst="rect">
            <a:avLst/>
          </a:prstGeom>
          <a:noFill/>
          <a:ln/>
        </p:spPr>
        <p:txBody>
          <a:bodyPr wrap="square" lIns="0" tIns="0" rIns="0" bIns="0" rtlCol="0" anchor="t"/>
          <a:lstStyle/>
          <a:p>
            <a:pPr algn="ctr" indent="0" marL="0">
              <a:buNone/>
            </a:pPr>
            <a:r>
              <a:rPr lang="en-US" sz="1500" dirty="0">
                <a:solidFill>
                  <a:schemeClr val="accent4"/>
                </a:solidFill>
              </a:rPr>
              <a:t>Pilote, 500 utilisateurs</a:t>
            </a:r>
            <a:endParaRPr lang="en-US" sz="1500" dirty="0"/>
          </a:p>
        </p:txBody>
      </p:sp>
      <p:sp>
        <p:nvSpPr>
          <p:cNvPr id="22" name="jalon-J90"/>
          <p:cNvSpPr/>
          <p:nvPr/>
        </p:nvSpPr>
        <p:spPr>
          <a:xfrm>
            <a:off x="10497312" y="3502152"/>
            <a:ext cx="402336" cy="402336"/>
          </a:xfrm>
          <a:prstGeom prst="ellipse">
            <a:avLst/>
          </a:prstGeom>
          <a:solidFill>
            <a:schemeClr val="accent2"/>
          </a:solidFill>
          <a:ln w="38100">
            <a:solidFill>
              <a:schemeClr val="bg1"/>
            </a:solidFill>
            <a:prstDash val="solid"/>
          </a:ln>
        </p:spPr>
      </p:sp>
      <p:sp>
        <p:nvSpPr>
          <p:cNvPr id="23" name="Text 18"/>
          <p:cNvSpPr txBox="1"/>
          <p:nvPr/>
        </p:nvSpPr>
        <p:spPr>
          <a:xfrm>
            <a:off x="9692640" y="2743200"/>
            <a:ext cx="2011680" cy="548640"/>
          </a:xfrm>
          <a:prstGeom prst="rect">
            <a:avLst/>
          </a:prstGeom>
          <a:no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J90</a:t>
            </a:r>
            <a:endParaRPr lang="en-US" sz="2800" dirty="0"/>
          </a:p>
        </p:txBody>
      </p:sp>
      <p:sp>
        <p:nvSpPr>
          <p:cNvPr id="24" name="Text 19"/>
          <p:cNvSpPr txBox="1"/>
          <p:nvPr/>
        </p:nvSpPr>
        <p:spPr>
          <a:xfrm>
            <a:off x="9601200" y="4114800"/>
            <a:ext cx="2194560" cy="822960"/>
          </a:xfrm>
          <a:prstGeom prst="rect">
            <a:avLst/>
          </a:prstGeom>
          <a:noFill/>
          <a:ln/>
        </p:spPr>
        <p:txBody>
          <a:bodyPr wrap="square" lIns="0" tIns="0" rIns="0" bIns="0" rtlCol="0" anchor="t"/>
          <a:lstStyle/>
          <a:p>
            <a:pPr algn="ctr" indent="0" marL="0">
              <a:buNone/>
            </a:pPr>
            <a:r>
              <a:rPr lang="en-US" sz="1500" dirty="0">
                <a:solidFill>
                  <a:schemeClr val="accent4"/>
                </a:solidFill>
              </a:rPr>
              <a:t>1er contrat payant</a:t>
            </a:r>
            <a:endParaRPr lang="en-US" sz="1500" dirty="0"/>
          </a:p>
        </p:txBody>
      </p:sp>
      <p:sp>
        <p:nvSpPr>
          <p:cNvPr id="25" name="Slide Number Placeholder 0"/>
          <p:cNvSpPr>
            <a:spLocks noGrp="1"/>
          </p:cNvSpPr>
          <p:nvPr>
            <p:ph type="sldNum" sz="quarter" idx="4294967295"/>
          </p:nvPr>
        </p:nvSpPr>
        <p:spPr>
          <a:xfrm>
            <a:off x="11094415" y="6309360"/>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5B6B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1188720"/>
          </a:xfrm>
          <a:prstGeom prst="rect">
            <a:avLst/>
          </a:prstGeom>
          <a:noFill/>
          <a:ln/>
        </p:spPr>
        <p:txBody>
          <a:bodyPr wrap="square" lIns="0" tIns="0" rIns="0" bIns="0" rtlCol="0" anchor="t"/>
          <a:lstStyle/>
          <a:p>
            <a:pPr algn="l" indent="0" marL="0">
              <a:buNone/>
            </a:pPr>
            <a:r>
              <a:rPr lang="en-US" sz="3400" b="1" dirty="0">
                <a:solidFill>
                  <a:schemeClr val="tx1"/>
                </a:solidFill>
              </a:rPr>
              <a:t>Nous couvrons tout le parcours, de l'alerte au dossier</a:t>
            </a:r>
            <a:endParaRPr lang="en-US" sz="3400" dirty="0"/>
          </a:p>
        </p:txBody>
      </p:sp>
      <p:sp>
        <p:nvSpPr>
          <p:cNvPr id="3" name="Text 1"/>
          <p:cNvSpPr txBox="1"/>
          <p:nvPr/>
        </p:nvSpPr>
        <p:spPr>
          <a:xfrm>
            <a:off x="548640" y="1828800"/>
            <a:ext cx="914400" cy="914400"/>
          </a:xfrm>
          <a:prstGeom prst="rect">
            <a:avLst/>
          </a:prstGeom>
          <a:noFill/>
          <a:ln/>
        </p:spPr>
        <p:txBody>
          <a:bodyPr wrap="square" lIns="0" tIns="0" rIns="0" bIns="0" rtlCol="0" anchor="ctr"/>
          <a:lstStyle/>
          <a:p>
            <a:pPr indent="0" marL="0">
              <a:buNone/>
            </a:pPr>
            <a:r>
              <a:rPr lang="en-US" sz="5400" b="1" dirty="0">
                <a:solidFill>
                  <a:schemeClr val="accent1"/>
                </a:solidFill>
                <a:latin typeface="+mj-lt" pitchFamily="34" charset="0"/>
                <a:ea typeface="+mj-lt" pitchFamily="34" charset="-122"/>
                <a:cs typeface="+mj-lt" pitchFamily="34" charset="-120"/>
              </a:rPr>
              <a:t>1</a:t>
            </a:r>
            <a:endParaRPr lang="en-US" sz="5400" dirty="0"/>
          </a:p>
        </p:txBody>
      </p:sp>
      <p:sp>
        <p:nvSpPr>
          <p:cNvPr id="4" name="Text 2"/>
          <p:cNvSpPr txBox="1"/>
          <p:nvPr/>
        </p:nvSpPr>
        <p:spPr>
          <a:xfrm>
            <a:off x="1554480" y="1828800"/>
            <a:ext cx="2377440" cy="914400"/>
          </a:xfrm>
          <a:prstGeom prst="rect">
            <a:avLst/>
          </a:prstGeom>
          <a:noFill/>
          <a:ln/>
        </p:spPr>
        <p:txBody>
          <a:bodyPr wrap="square" lIns="0" tIns="0" rIns="0" bIns="0" rtlCol="0" anchor="ctr"/>
          <a:lstStyle/>
          <a:p>
            <a:pPr indent="0" marL="0">
              <a:buNone/>
            </a:pPr>
            <a:r>
              <a:rPr lang="en-US" sz="1800" b="1" dirty="0">
                <a:solidFill>
                  <a:schemeClr val="tx1"/>
                </a:solidFill>
              </a:rPr>
              <a:t>MVP fonctionnel</a:t>
            </a:r>
            <a:endParaRPr lang="en-US" sz="1800" dirty="0"/>
          </a:p>
        </p:txBody>
      </p:sp>
      <p:sp>
        <p:nvSpPr>
          <p:cNvPr id="5" name="Text 3"/>
          <p:cNvSpPr txBox="1"/>
          <p:nvPr/>
        </p:nvSpPr>
        <p:spPr>
          <a:xfrm>
            <a:off x="548640" y="3154680"/>
            <a:ext cx="914400" cy="914400"/>
          </a:xfrm>
          <a:prstGeom prst="rect">
            <a:avLst/>
          </a:prstGeom>
          <a:noFill/>
          <a:ln/>
        </p:spPr>
        <p:txBody>
          <a:bodyPr wrap="square" lIns="0" tIns="0" rIns="0" bIns="0" rtlCol="0" anchor="ctr"/>
          <a:lstStyle/>
          <a:p>
            <a:pPr indent="0" marL="0">
              <a:buNone/>
            </a:pPr>
            <a:r>
              <a:rPr lang="en-US" sz="5400" b="1" dirty="0">
                <a:solidFill>
                  <a:schemeClr val="accent1"/>
                </a:solidFill>
                <a:latin typeface="+mj-lt" pitchFamily="34" charset="0"/>
                <a:ea typeface="+mj-lt" pitchFamily="34" charset="-122"/>
                <a:cs typeface="+mj-lt" pitchFamily="34" charset="-120"/>
              </a:rPr>
              <a:t>5</a:t>
            </a:r>
            <a:endParaRPr lang="en-US" sz="5400" dirty="0"/>
          </a:p>
        </p:txBody>
      </p:sp>
      <p:sp>
        <p:nvSpPr>
          <p:cNvPr id="6" name="Text 4"/>
          <p:cNvSpPr txBox="1"/>
          <p:nvPr/>
        </p:nvSpPr>
        <p:spPr>
          <a:xfrm>
            <a:off x="1554480" y="3154680"/>
            <a:ext cx="2377440" cy="914400"/>
          </a:xfrm>
          <a:prstGeom prst="rect">
            <a:avLst/>
          </a:prstGeom>
          <a:noFill/>
          <a:ln/>
        </p:spPr>
        <p:txBody>
          <a:bodyPr wrap="square" lIns="0" tIns="0" rIns="0" bIns="0" rtlCol="0" anchor="ctr"/>
          <a:lstStyle/>
          <a:p>
            <a:pPr indent="0" marL="0">
              <a:buNone/>
            </a:pPr>
            <a:r>
              <a:rPr lang="en-US" sz="1800" b="1" dirty="0">
                <a:solidFill>
                  <a:schemeClr val="tx1"/>
                </a:solidFill>
              </a:rPr>
              <a:t>scénarios testés</a:t>
            </a:r>
            <a:endParaRPr lang="en-US" sz="1800" dirty="0"/>
          </a:p>
        </p:txBody>
      </p:sp>
      <p:sp>
        <p:nvSpPr>
          <p:cNvPr id="7" name="Text 5"/>
          <p:cNvSpPr txBox="1"/>
          <p:nvPr/>
        </p:nvSpPr>
        <p:spPr>
          <a:xfrm>
            <a:off x="548640" y="4480560"/>
            <a:ext cx="914400" cy="914400"/>
          </a:xfrm>
          <a:prstGeom prst="rect">
            <a:avLst/>
          </a:prstGeom>
          <a:noFill/>
          <a:ln/>
        </p:spPr>
        <p:txBody>
          <a:bodyPr wrap="square" lIns="0" tIns="0" rIns="0" bIns="0" rtlCol="0" anchor="ctr"/>
          <a:lstStyle/>
          <a:p>
            <a:pPr indent="0" marL="0">
              <a:buNone/>
            </a:pPr>
            <a:r>
              <a:rPr lang="en-US" sz="5400" b="1" dirty="0">
                <a:solidFill>
                  <a:schemeClr val="accent1"/>
                </a:solidFill>
                <a:latin typeface="+mj-lt" pitchFamily="34" charset="0"/>
                <a:ea typeface="+mj-lt" pitchFamily="34" charset="-122"/>
                <a:cs typeface="+mj-lt" pitchFamily="34" charset="-120"/>
              </a:rPr>
              <a:t>0</a:t>
            </a:r>
            <a:endParaRPr lang="en-US" sz="5400" dirty="0"/>
          </a:p>
        </p:txBody>
      </p:sp>
      <p:sp>
        <p:nvSpPr>
          <p:cNvPr id="8" name="Text 6"/>
          <p:cNvSpPr txBox="1"/>
          <p:nvPr/>
        </p:nvSpPr>
        <p:spPr>
          <a:xfrm>
            <a:off x="1554480" y="4480560"/>
            <a:ext cx="2377440" cy="914400"/>
          </a:xfrm>
          <a:prstGeom prst="rect">
            <a:avLst/>
          </a:prstGeom>
          <a:noFill/>
          <a:ln/>
        </p:spPr>
        <p:txBody>
          <a:bodyPr wrap="square" lIns="0" tIns="0" rIns="0" bIns="0" rtlCol="0" anchor="ctr"/>
          <a:lstStyle/>
          <a:p>
            <a:pPr indent="0" marL="0">
              <a:buNone/>
            </a:pPr>
            <a:r>
              <a:rPr lang="en-US" sz="1800" b="1" dirty="0">
                <a:solidFill>
                  <a:schemeClr val="tx1"/>
                </a:solidFill>
              </a:rPr>
              <a:t>donnée conservée</a:t>
            </a:r>
            <a:endParaRPr lang="en-US" sz="1800" dirty="0"/>
          </a:p>
        </p:txBody>
      </p:sp>
      <p:graphicFrame>
        <p:nvGraphicFramePr>
          <p:cNvPr id="9" name="tableau-concurrence"/>
          <p:cNvGraphicFramePr>
            <a:graphicFrameLocks noGrp="1"/>
          </p:cNvGraphicFramePr>
          <p:nvPr>
            <p:extLst>
              <p:ext uri="{D42A27DB-BD31-4B8C-83A1-F6EECF244321}">
                <p14:modId xmlns:p14="http://schemas.microsoft.com/office/powerpoint/2010/main" val="1579011935"/>
              </p:ext>
            </p:extLst>
          </p:nvPr>
        </p:nvGraphicFramePr>
        <p:xfrm>
          <a:off x="4206240" y="1828800"/>
          <a:ext cx="7434072" cy="914400"/>
        </p:xfrm>
        <a:graphic>
          <a:graphicData uri="http://schemas.openxmlformats.org/drawingml/2006/table">
            <a:tbl>
              <a:tblPr/>
              <a:tblGrid>
                <a:gridCol w="2130552"/>
                <a:gridCol w="1325880"/>
                <a:gridCol w="1325880"/>
                <a:gridCol w="1325880"/>
                <a:gridCol w="1325880"/>
              </a:tblGrid>
              <a:tr h="658368">
                <a:tc>
                  <a:txBody>
                    <a:bodyPr/>
                    <a:lstStyle/>
                    <a:p>
                      <a:pPr algn="l" indent="0" marL="0">
                        <a:buNone/>
                      </a:pPr>
                      <a:endParaRPr lang="en-US" sz="15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FFFFFF"/>
                          </a:solidFill>
                        </a:rPr>
                        <a:t>Woolu</a:t>
                      </a:r>
                      <a:endParaRPr lang="en-US" sz="15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0B7A63"/>
                    </a:solidFill>
                  </a:tcPr>
                </a:tc>
                <a:tc>
                  <a:txBody>
                    <a:bodyPr/>
                    <a:lstStyle/>
                    <a:p>
                      <a:pPr algn="ctr" indent="0" marL="0">
                        <a:buNone/>
                      </a:pPr>
                      <a:r>
                        <a:rPr lang="en-US" sz="1500" b="1" dirty="0">
                          <a:solidFill>
                            <a:srgbClr val="0F1B2D"/>
                          </a:solidFill>
                        </a:rPr>
                        <a:t>Opérateur</a:t>
                      </a:r>
                      <a:endParaRPr lang="en-US" sz="15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F1B2D"/>
                          </a:solidFill>
                        </a:rPr>
                        <a:t>Anti-spam</a:t>
                      </a:r>
                      <a:endParaRPr lang="en-US" sz="15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F1B2D"/>
                          </a:solidFill>
                        </a:rPr>
                        <a:t>Police</a:t>
                      </a:r>
                      <a:endParaRPr lang="en-US" sz="15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r>
              <a:tr h="658368">
                <a:tc>
                  <a:txBody>
                    <a:bodyPr/>
                    <a:lstStyle/>
                    <a:p>
                      <a:pPr algn="l" indent="0" marL="0">
                        <a:buNone/>
                      </a:pPr>
                      <a:r>
                        <a:rPr lang="en-US" sz="1500" b="1" dirty="0">
                          <a:solidFill>
                            <a:srgbClr val="0F1B2D"/>
                          </a:solidFill>
                        </a:rPr>
                        <a:t>Analyse</a:t>
                      </a:r>
                      <a:endParaRPr lang="en-US" sz="15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B7A63"/>
                          </a:solidFill>
                        </a:rPr>
                        <a:t>⬤</a:t>
                      </a:r>
                      <a:endParaRPr lang="en-US" sz="15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CFE9E0"/>
                    </a:solidFill>
                  </a:tcPr>
                </a:tc>
                <a:tc>
                  <a:txBody>
                    <a:bodyPr/>
                    <a:lstStyle/>
                    <a:p>
                      <a:pPr algn="ctr" indent="0" marL="0">
                        <a:buNone/>
                      </a:pPr>
                      <a:r>
                        <a:rPr lang="en-US" sz="2000" dirty="0">
                          <a:solidFill>
                            <a:srgbClr val="5B6B7A"/>
                          </a:solidFill>
                        </a:rPr>
                        <a:t>◐</a:t>
                      </a:r>
                      <a:endParaRPr lang="en-US" sz="20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5B6B7A"/>
                          </a:solidFill>
                        </a:rPr>
                        <a:t>⬤</a:t>
                      </a:r>
                      <a:endParaRPr lang="en-US" sz="15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5B6B7A"/>
                          </a:solidFill>
                        </a:rPr>
                        <a:t>○</a:t>
                      </a:r>
                      <a:endParaRPr lang="en-US" sz="20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r>
              <a:tr h="658368">
                <a:tc>
                  <a:txBody>
                    <a:bodyPr/>
                    <a:lstStyle/>
                    <a:p>
                      <a:pPr algn="l" indent="0" marL="0">
                        <a:buNone/>
                      </a:pPr>
                      <a:r>
                        <a:rPr lang="en-US" sz="1500" b="1" dirty="0">
                          <a:solidFill>
                            <a:srgbClr val="0F1B2D"/>
                          </a:solidFill>
                        </a:rPr>
                        <a:t>Résolution guidée</a:t>
                      </a:r>
                      <a:endParaRPr lang="en-US" sz="15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B7A63"/>
                          </a:solidFill>
                        </a:rPr>
                        <a:t>⬤</a:t>
                      </a:r>
                      <a:endParaRPr lang="en-US" sz="15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CFE9E0"/>
                    </a:solidFill>
                  </a:tcPr>
                </a:tc>
                <a:tc>
                  <a:txBody>
                    <a:bodyPr/>
                    <a:lstStyle/>
                    <a:p>
                      <a:pPr algn="ctr" indent="0" marL="0">
                        <a:buNone/>
                      </a:pPr>
                      <a:r>
                        <a:rPr lang="en-US" sz="2000" dirty="0">
                          <a:solidFill>
                            <a:srgbClr val="5B6B7A"/>
                          </a:solidFill>
                        </a:rPr>
                        <a:t>◐</a:t>
                      </a:r>
                      <a:endParaRPr lang="en-US" sz="20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5B6B7A"/>
                          </a:solidFill>
                        </a:rPr>
                        <a:t>○</a:t>
                      </a:r>
                      <a:endParaRPr lang="en-US" sz="20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5B6B7A"/>
                          </a:solidFill>
                        </a:rPr>
                        <a:t>○</a:t>
                      </a:r>
                      <a:endParaRPr lang="en-US" sz="20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r>
              <a:tr h="658368">
                <a:tc>
                  <a:txBody>
                    <a:bodyPr/>
                    <a:lstStyle/>
                    <a:p>
                      <a:pPr algn="l" indent="0" marL="0">
                        <a:buNone/>
                      </a:pPr>
                      <a:r>
                        <a:rPr lang="en-US" sz="1500" b="1" dirty="0">
                          <a:solidFill>
                            <a:srgbClr val="0F1B2D"/>
                          </a:solidFill>
                        </a:rPr>
                        <a:t>Dossier</a:t>
                      </a:r>
                      <a:endParaRPr lang="en-US" sz="15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B7A63"/>
                          </a:solidFill>
                        </a:rPr>
                        <a:t>⬤</a:t>
                      </a:r>
                      <a:endParaRPr lang="en-US" sz="15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CFE9E0"/>
                    </a:solidFill>
                  </a:tcPr>
                </a:tc>
                <a:tc>
                  <a:txBody>
                    <a:bodyPr/>
                    <a:lstStyle/>
                    <a:p>
                      <a:pPr algn="ctr" indent="0" marL="0">
                        <a:buNone/>
                      </a:pPr>
                      <a:r>
                        <a:rPr lang="en-US" sz="2000" dirty="0">
                          <a:solidFill>
                            <a:srgbClr val="5B6B7A"/>
                          </a:solidFill>
                        </a:rPr>
                        <a:t>○</a:t>
                      </a:r>
                      <a:endParaRPr lang="en-US" sz="20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5B6B7A"/>
                          </a:solidFill>
                        </a:rPr>
                        <a:t>○</a:t>
                      </a:r>
                      <a:endParaRPr lang="en-US" sz="20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5B6B7A"/>
                          </a:solidFill>
                        </a:rPr>
                        <a:t>◐</a:t>
                      </a:r>
                      <a:endParaRPr lang="en-US" sz="20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r>
              <a:tr h="658368">
                <a:tc>
                  <a:txBody>
                    <a:bodyPr/>
                    <a:lstStyle/>
                    <a:p>
                      <a:pPr algn="l" indent="0" marL="0">
                        <a:buNone/>
                      </a:pPr>
                      <a:r>
                        <a:rPr lang="en-US" sz="1500" b="1" dirty="0">
                          <a:solidFill>
                            <a:srgbClr val="0F1B2D"/>
                          </a:solidFill>
                        </a:rPr>
                        <a:t>Indépendance</a:t>
                      </a:r>
                      <a:endParaRPr lang="en-US" sz="15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0B7A63"/>
                          </a:solidFill>
                        </a:rPr>
                        <a:t>⬤</a:t>
                      </a:r>
                      <a:endParaRPr lang="en-US" sz="15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CFE9E0"/>
                    </a:solidFill>
                  </a:tcPr>
                </a:tc>
                <a:tc>
                  <a:txBody>
                    <a:bodyPr/>
                    <a:lstStyle/>
                    <a:p>
                      <a:pPr algn="ctr" indent="0" marL="0">
                        <a:buNone/>
                      </a:pPr>
                      <a:r>
                        <a:rPr lang="en-US" sz="2000" dirty="0">
                          <a:solidFill>
                            <a:srgbClr val="5B6B7A"/>
                          </a:solidFill>
                        </a:rPr>
                        <a:t>○</a:t>
                      </a:r>
                      <a:endParaRPr lang="en-US" sz="20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5B6B7A"/>
                          </a:solidFill>
                        </a:rPr>
                        <a:t>⬤</a:t>
                      </a:r>
                      <a:endParaRPr lang="en-US" sz="15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5B6B7A"/>
                          </a:solidFill>
                        </a:rPr>
                        <a:t>⬤</a:t>
                      </a:r>
                      <a:endParaRPr lang="en-US" sz="1500" dirty="0"/>
                    </a:p>
                  </a:txBody>
                  <a:tcPr marL="137160" marR="137160" marT="0" marB="0" anchor="ctr">
                    <a:lnL w="25400" cap="flat" cmpd="sng" algn="ctr">
                      <a:solidFill>
                        <a:srgbClr val="F3F6F4"/>
                      </a:solidFill>
                      <a:prstDash val="solid"/>
                      <a:round/>
                      <a:headEnd type="none" w="med" len="med"/>
                      <a:tailEnd type="none" w="med" len="med"/>
                    </a:lnL>
                    <a:lnR w="25400" cap="flat" cmpd="sng" algn="ctr">
                      <a:solidFill>
                        <a:srgbClr val="F3F6F4"/>
                      </a:solidFill>
                      <a:prstDash val="solid"/>
                      <a:round/>
                      <a:headEnd type="none" w="med" len="med"/>
                      <a:tailEnd type="none" w="med" len="med"/>
                    </a:lnR>
                    <a:lnT w="25400" cap="flat" cmpd="sng" algn="ctr">
                      <a:solidFill>
                        <a:srgbClr val="F3F6F4"/>
                      </a:solidFill>
                      <a:prstDash val="solid"/>
                      <a:round/>
                      <a:headEnd type="none" w="med" len="med"/>
                      <a:tailEnd type="none" w="med" len="med"/>
                    </a:lnT>
                    <a:lnB w="25400" cap="flat" cmpd="sng" algn="ctr">
                      <a:solidFill>
                        <a:srgbClr val="F3F6F4"/>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4206240" y="5349240"/>
            <a:ext cx="7434072" cy="320040"/>
          </a:xfrm>
          <a:prstGeom prst="rect">
            <a:avLst/>
          </a:prstGeom>
          <a:noFill/>
          <a:ln/>
        </p:spPr>
        <p:txBody>
          <a:bodyPr wrap="square" lIns="0" tIns="0" rIns="0" bIns="0" rtlCol="0" anchor="ctr"/>
          <a:lstStyle/>
          <a:p>
            <a:pPr algn="r" indent="0" marL="0">
              <a:buNone/>
            </a:pPr>
            <a:r>
              <a:rPr lang="en-US" sz="1200" dirty="0">
                <a:solidFill>
                  <a:schemeClr val="accent4"/>
                </a:solidFill>
              </a:rPr>
              <a:t>⬤ oui   ◐ partiel   ○ non  ·  Analyse de l'équipe</a:t>
            </a:r>
            <a:endParaRPr lang="en-US" sz="1200" dirty="0"/>
          </a:p>
        </p:txBody>
      </p:sp>
      <p:sp>
        <p:nvSpPr>
          <p:cNvPr id="25" name="Slide Number Placeholder 0"/>
          <p:cNvSpPr>
            <a:spLocks noGrp="1"/>
          </p:cNvSpPr>
          <p:nvPr>
            <p:ph type="sldNum" sz="quarter" idx="4294967295"/>
          </p:nvPr>
        </p:nvSpPr>
        <p:spPr>
          <a:xfrm>
            <a:off x="11094415" y="6309360"/>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5B6B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1188720"/>
          </a:xfrm>
          <a:prstGeom prst="rect">
            <a:avLst/>
          </a:prstGeom>
          <a:noFill/>
          <a:ln/>
        </p:spPr>
        <p:txBody>
          <a:bodyPr wrap="square" lIns="0" tIns="0" rIns="0" bIns="0" rtlCol="0" anchor="t"/>
          <a:lstStyle/>
          <a:p>
            <a:pPr algn="l" indent="0" marL="0">
              <a:buNone/>
            </a:pPr>
            <a:r>
              <a:rPr lang="en-US" sz="3400" b="1" dirty="0">
                <a:solidFill>
                  <a:schemeClr val="tx1"/>
                </a:solidFill>
              </a:rPr>
              <a:t>Data, finance et code réunis dans une même équipe</a:t>
            </a:r>
            <a:endParaRPr lang="en-US" sz="3400" dirty="0"/>
          </a:p>
        </p:txBody>
      </p:sp>
      <p:sp>
        <p:nvSpPr>
          <p:cNvPr id="3" name="carte-HM"/>
          <p:cNvSpPr/>
          <p:nvPr/>
        </p:nvSpPr>
        <p:spPr>
          <a:xfrm>
            <a:off x="548640" y="1783080"/>
            <a:ext cx="3429000" cy="4023360"/>
          </a:xfrm>
          <a:prstGeom prst="roundRect">
            <a:avLst>
              <a:gd name="adj" fmla="val 4800"/>
            </a:avLst>
          </a:prstGeom>
          <a:solidFill>
            <a:schemeClr val="bg1"/>
          </a:solidFill>
          <a:ln/>
          <a:effectLst>
            <a:outerShdw sx="100000" sy="100000" kx="0" ky="0" algn="bl" rotWithShape="0" blurRad="177800" dist="50800" dir="5400000">
              <a:srgbClr val="0F1B2D">
                <a:alpha val="10000"/>
              </a:srgbClr>
            </a:outerShdw>
          </a:effectLst>
        </p:spPr>
      </p:sp>
      <p:sp>
        <p:nvSpPr>
          <p:cNvPr id="4" name="avatar-HM"/>
          <p:cNvSpPr/>
          <p:nvPr/>
        </p:nvSpPr>
        <p:spPr>
          <a:xfrm>
            <a:off x="1600200" y="2194560"/>
            <a:ext cx="1325880" cy="1325880"/>
          </a:xfrm>
          <a:prstGeom prst="ellipse">
            <a:avLst/>
          </a:prstGeom>
          <a:solidFill>
            <a:schemeClr val="accent1"/>
          </a:solidFill>
          <a:ln/>
        </p:spPr>
      </p:sp>
      <p:sp>
        <p:nvSpPr>
          <p:cNvPr id="5" name="Text 3"/>
          <p:cNvSpPr txBox="1"/>
          <p:nvPr/>
        </p:nvSpPr>
        <p:spPr>
          <a:xfrm>
            <a:off x="1600200" y="2194560"/>
            <a:ext cx="1325880" cy="1325880"/>
          </a:xfrm>
          <a:prstGeom prst="rect">
            <a:avLst/>
          </a:prstGeom>
          <a:noFill/>
          <a:ln/>
        </p:spPr>
        <p:txBody>
          <a:bodyPr wrap="square" lIns="0" tIns="0" rIns="0" bIns="0" rtlCol="0" anchor="ctr"/>
          <a:lstStyle/>
          <a:p>
            <a:pPr algn="ctr" indent="0" marL="0">
              <a:buNone/>
            </a:pPr>
            <a:r>
              <a:rPr lang="en-US" sz="3400" b="1" dirty="0">
                <a:solidFill>
                  <a:schemeClr val="bg1"/>
                </a:solidFill>
                <a:latin typeface="+mj-lt" pitchFamily="34" charset="0"/>
                <a:ea typeface="+mj-lt" pitchFamily="34" charset="-122"/>
                <a:cs typeface="+mj-lt" pitchFamily="34" charset="-120"/>
              </a:rPr>
              <a:t>HM</a:t>
            </a:r>
            <a:endParaRPr lang="en-US" sz="3400" dirty="0"/>
          </a:p>
        </p:txBody>
      </p:sp>
      <p:sp>
        <p:nvSpPr>
          <p:cNvPr id="6" name="Text 4"/>
          <p:cNvSpPr txBox="1"/>
          <p:nvPr/>
        </p:nvSpPr>
        <p:spPr>
          <a:xfrm>
            <a:off x="777240" y="3749040"/>
            <a:ext cx="2971800" cy="457200"/>
          </a:xfrm>
          <a:prstGeom prst="rect">
            <a:avLst/>
          </a:prstGeom>
          <a:noFill/>
          <a:ln/>
        </p:spPr>
        <p:txBody>
          <a:bodyPr wrap="square" lIns="0" tIns="0" rIns="0" bIns="0" rtlCol="0" anchor="ctr"/>
          <a:lstStyle/>
          <a:p>
            <a:pPr algn="ctr" indent="0" marL="0">
              <a:buNone/>
            </a:pPr>
            <a:r>
              <a:rPr lang="en-US" sz="2000" b="1" dirty="0">
                <a:solidFill>
                  <a:schemeClr val="tx1"/>
                </a:solidFill>
              </a:rPr>
              <a:t>Harouna MBAYE</a:t>
            </a:r>
            <a:endParaRPr lang="en-US" sz="2000" dirty="0"/>
          </a:p>
        </p:txBody>
      </p:sp>
      <p:sp>
        <p:nvSpPr>
          <p:cNvPr id="7" name="Text 5"/>
          <p:cNvSpPr txBox="1"/>
          <p:nvPr/>
        </p:nvSpPr>
        <p:spPr>
          <a:xfrm>
            <a:off x="777240" y="4251960"/>
            <a:ext cx="2971800" cy="685800"/>
          </a:xfrm>
          <a:prstGeom prst="rect">
            <a:avLst/>
          </a:prstGeom>
          <a:noFill/>
          <a:ln/>
        </p:spPr>
        <p:txBody>
          <a:bodyPr wrap="square" lIns="0" tIns="0" rIns="0" bIns="0" rtlCol="0" anchor="t"/>
          <a:lstStyle/>
          <a:p>
            <a:pPr algn="ctr" indent="0" marL="0">
              <a:buNone/>
            </a:pPr>
            <a:r>
              <a:rPr lang="en-US" sz="1500" dirty="0">
                <a:solidFill>
                  <a:schemeClr val="accent4"/>
                </a:solidFill>
              </a:rPr>
              <a:t>Data Scientist &amp; Data Analyst</a:t>
            </a:r>
            <a:endParaRPr lang="en-US" sz="1500" dirty="0"/>
          </a:p>
        </p:txBody>
      </p:sp>
      <p:sp>
        <p:nvSpPr>
          <p:cNvPr id="8" name="role-HM"/>
          <p:cNvSpPr/>
          <p:nvPr/>
        </p:nvSpPr>
        <p:spPr>
          <a:xfrm>
            <a:off x="1531620" y="5074920"/>
            <a:ext cx="1463040" cy="411480"/>
          </a:xfrm>
          <a:prstGeom prst="roundRect">
            <a:avLst>
              <a:gd name="adj" fmla="val 48889"/>
            </a:avLst>
          </a:prstGeom>
          <a:solidFill>
            <a:schemeClr val="accent5"/>
          </a:solidFill>
          <a:ln/>
        </p:spPr>
      </p:sp>
      <p:sp>
        <p:nvSpPr>
          <p:cNvPr id="9" name="Text 7"/>
          <p:cNvSpPr txBox="1"/>
          <p:nvPr/>
        </p:nvSpPr>
        <p:spPr>
          <a:xfrm>
            <a:off x="1531620" y="5074920"/>
            <a:ext cx="1463040" cy="411480"/>
          </a:xfrm>
          <a:prstGeom prst="rect">
            <a:avLst/>
          </a:prstGeom>
          <a:noFill/>
          <a:ln/>
        </p:spPr>
        <p:txBody>
          <a:bodyPr wrap="square" lIns="0" tIns="0" rIns="0" bIns="0" rtlCol="0" anchor="ctr"/>
          <a:lstStyle/>
          <a:p>
            <a:pPr algn="ctr" indent="0" marL="0">
              <a:buNone/>
            </a:pPr>
            <a:r>
              <a:rPr lang="en-US" sz="1400" b="1" dirty="0">
                <a:solidFill>
                  <a:schemeClr val="tx2"/>
                </a:solidFill>
              </a:rPr>
              <a:t>IA</a:t>
            </a:r>
            <a:endParaRPr lang="en-US" sz="1400" dirty="0"/>
          </a:p>
        </p:txBody>
      </p:sp>
      <p:sp>
        <p:nvSpPr>
          <p:cNvPr id="10" name="carte-KN"/>
          <p:cNvSpPr/>
          <p:nvPr/>
        </p:nvSpPr>
        <p:spPr>
          <a:xfrm>
            <a:off x="4366260" y="1783080"/>
            <a:ext cx="3429000" cy="4023360"/>
          </a:xfrm>
          <a:prstGeom prst="roundRect">
            <a:avLst>
              <a:gd name="adj" fmla="val 4800"/>
            </a:avLst>
          </a:prstGeom>
          <a:solidFill>
            <a:schemeClr val="bg1"/>
          </a:solidFill>
          <a:ln/>
          <a:effectLst>
            <a:outerShdw sx="100000" sy="100000" kx="0" ky="0" algn="bl" rotWithShape="0" blurRad="177800" dist="50800" dir="5400000">
              <a:srgbClr val="0F1B2D">
                <a:alpha val="10000"/>
              </a:srgbClr>
            </a:outerShdw>
          </a:effectLst>
        </p:spPr>
      </p:sp>
      <p:sp>
        <p:nvSpPr>
          <p:cNvPr id="11" name="avatar-KN"/>
          <p:cNvSpPr/>
          <p:nvPr/>
        </p:nvSpPr>
        <p:spPr>
          <a:xfrm>
            <a:off x="5417820" y="2194560"/>
            <a:ext cx="1325880" cy="1325880"/>
          </a:xfrm>
          <a:prstGeom prst="ellipse">
            <a:avLst/>
          </a:prstGeom>
          <a:solidFill>
            <a:schemeClr val="accent2"/>
          </a:solidFill>
          <a:ln/>
        </p:spPr>
      </p:sp>
      <p:sp>
        <p:nvSpPr>
          <p:cNvPr id="12" name="Text 10"/>
          <p:cNvSpPr txBox="1"/>
          <p:nvPr/>
        </p:nvSpPr>
        <p:spPr>
          <a:xfrm>
            <a:off x="5417820" y="2194560"/>
            <a:ext cx="1325880" cy="1325880"/>
          </a:xfrm>
          <a:prstGeom prst="rect">
            <a:avLst/>
          </a:prstGeom>
          <a:noFill/>
          <a:ln/>
        </p:spPr>
        <p:txBody>
          <a:bodyPr wrap="square" lIns="0" tIns="0" rIns="0" bIns="0" rtlCol="0" anchor="ctr"/>
          <a:lstStyle/>
          <a:p>
            <a:pPr algn="ctr" indent="0" marL="0">
              <a:buNone/>
            </a:pPr>
            <a:r>
              <a:rPr lang="en-US" sz="3400" b="1" dirty="0">
                <a:solidFill>
                  <a:schemeClr val="tx1"/>
                </a:solidFill>
                <a:latin typeface="+mj-lt" pitchFamily="34" charset="0"/>
                <a:ea typeface="+mj-lt" pitchFamily="34" charset="-122"/>
                <a:cs typeface="+mj-lt" pitchFamily="34" charset="-120"/>
              </a:rPr>
              <a:t>KN</a:t>
            </a:r>
            <a:endParaRPr lang="en-US" sz="3400" dirty="0"/>
          </a:p>
        </p:txBody>
      </p:sp>
      <p:sp>
        <p:nvSpPr>
          <p:cNvPr id="13" name="Text 11"/>
          <p:cNvSpPr txBox="1"/>
          <p:nvPr/>
        </p:nvSpPr>
        <p:spPr>
          <a:xfrm>
            <a:off x="4594860" y="3749040"/>
            <a:ext cx="2971800" cy="457200"/>
          </a:xfrm>
          <a:prstGeom prst="rect">
            <a:avLst/>
          </a:prstGeom>
          <a:noFill/>
          <a:ln/>
        </p:spPr>
        <p:txBody>
          <a:bodyPr wrap="square" lIns="0" tIns="0" rIns="0" bIns="0" rtlCol="0" anchor="ctr"/>
          <a:lstStyle/>
          <a:p>
            <a:pPr algn="ctr" indent="0" marL="0">
              <a:buNone/>
            </a:pPr>
            <a:r>
              <a:rPr lang="en-US" sz="2000" b="1" dirty="0">
                <a:solidFill>
                  <a:schemeClr val="tx1"/>
                </a:solidFill>
              </a:rPr>
              <a:t>Khadija NGOM</a:t>
            </a:r>
            <a:endParaRPr lang="en-US" sz="2000" dirty="0"/>
          </a:p>
        </p:txBody>
      </p:sp>
      <p:sp>
        <p:nvSpPr>
          <p:cNvPr id="14" name="Text 12"/>
          <p:cNvSpPr txBox="1"/>
          <p:nvPr/>
        </p:nvSpPr>
        <p:spPr>
          <a:xfrm>
            <a:off x="4594860" y="4251960"/>
            <a:ext cx="2971800" cy="685800"/>
          </a:xfrm>
          <a:prstGeom prst="rect">
            <a:avLst/>
          </a:prstGeom>
          <a:noFill/>
          <a:ln/>
        </p:spPr>
        <p:txBody>
          <a:bodyPr wrap="square" lIns="0" tIns="0" rIns="0" bIns="0" rtlCol="0" anchor="t"/>
          <a:lstStyle/>
          <a:p>
            <a:pPr algn="ctr" indent="0" marL="0">
              <a:buNone/>
            </a:pPr>
            <a:r>
              <a:rPr lang="en-US" sz="1500" dirty="0">
                <a:solidFill>
                  <a:schemeClr val="accent4"/>
                </a:solidFill>
              </a:rPr>
              <a:t>Ingénieure financière &amp; Data Scientist</a:t>
            </a:r>
            <a:endParaRPr lang="en-US" sz="1500" dirty="0"/>
          </a:p>
        </p:txBody>
      </p:sp>
      <p:sp>
        <p:nvSpPr>
          <p:cNvPr id="15" name="role-KN"/>
          <p:cNvSpPr/>
          <p:nvPr/>
        </p:nvSpPr>
        <p:spPr>
          <a:xfrm>
            <a:off x="5349240" y="5074920"/>
            <a:ext cx="1463040" cy="411480"/>
          </a:xfrm>
          <a:prstGeom prst="roundRect">
            <a:avLst>
              <a:gd name="adj" fmla="val 48889"/>
            </a:avLst>
          </a:prstGeom>
          <a:solidFill>
            <a:schemeClr val="accent5"/>
          </a:solidFill>
          <a:ln/>
        </p:spPr>
      </p:sp>
      <p:sp>
        <p:nvSpPr>
          <p:cNvPr id="16" name="Text 14"/>
          <p:cNvSpPr txBox="1"/>
          <p:nvPr/>
        </p:nvSpPr>
        <p:spPr>
          <a:xfrm>
            <a:off x="5349240" y="5074920"/>
            <a:ext cx="1463040" cy="411480"/>
          </a:xfrm>
          <a:prstGeom prst="rect">
            <a:avLst/>
          </a:prstGeom>
          <a:noFill/>
          <a:ln/>
        </p:spPr>
        <p:txBody>
          <a:bodyPr wrap="square" lIns="0" tIns="0" rIns="0" bIns="0" rtlCol="0" anchor="ctr"/>
          <a:lstStyle/>
          <a:p>
            <a:pPr algn="ctr" indent="0" marL="0">
              <a:buNone/>
            </a:pPr>
            <a:r>
              <a:rPr lang="en-US" sz="1400" b="1" dirty="0">
                <a:solidFill>
                  <a:schemeClr val="tx2"/>
                </a:solidFill>
              </a:rPr>
              <a:t>Finance</a:t>
            </a:r>
            <a:endParaRPr lang="en-US" sz="1400" dirty="0"/>
          </a:p>
        </p:txBody>
      </p:sp>
      <p:sp>
        <p:nvSpPr>
          <p:cNvPr id="17" name="carte-PAN"/>
          <p:cNvSpPr/>
          <p:nvPr/>
        </p:nvSpPr>
        <p:spPr>
          <a:xfrm>
            <a:off x="8183880" y="1783080"/>
            <a:ext cx="3429000" cy="4023360"/>
          </a:xfrm>
          <a:prstGeom prst="roundRect">
            <a:avLst>
              <a:gd name="adj" fmla="val 4800"/>
            </a:avLst>
          </a:prstGeom>
          <a:solidFill>
            <a:schemeClr val="bg1"/>
          </a:solidFill>
          <a:ln/>
          <a:effectLst>
            <a:outerShdw sx="100000" sy="100000" kx="0" ky="0" algn="bl" rotWithShape="0" blurRad="177800" dist="50800" dir="5400000">
              <a:srgbClr val="0F1B2D">
                <a:alpha val="10000"/>
              </a:srgbClr>
            </a:outerShdw>
          </a:effectLst>
        </p:spPr>
      </p:sp>
      <p:sp>
        <p:nvSpPr>
          <p:cNvPr id="18" name="avatar-PAN"/>
          <p:cNvSpPr/>
          <p:nvPr/>
        </p:nvSpPr>
        <p:spPr>
          <a:xfrm>
            <a:off x="9235440" y="2194560"/>
            <a:ext cx="1325880" cy="1325880"/>
          </a:xfrm>
          <a:prstGeom prst="ellipse">
            <a:avLst/>
          </a:prstGeom>
          <a:solidFill>
            <a:schemeClr val="tx2"/>
          </a:solidFill>
          <a:ln/>
        </p:spPr>
      </p:sp>
      <p:sp>
        <p:nvSpPr>
          <p:cNvPr id="19" name="Text 17"/>
          <p:cNvSpPr txBox="1"/>
          <p:nvPr/>
        </p:nvSpPr>
        <p:spPr>
          <a:xfrm>
            <a:off x="9235440" y="2194560"/>
            <a:ext cx="1325880" cy="1325880"/>
          </a:xfrm>
          <a:prstGeom prst="rect">
            <a:avLst/>
          </a:prstGeom>
          <a:noFill/>
          <a:ln/>
        </p:spPr>
        <p:txBody>
          <a:bodyPr wrap="square" lIns="0" tIns="0" rIns="0" bIns="0" rtlCol="0" anchor="ctr"/>
          <a:lstStyle/>
          <a:p>
            <a:pPr algn="ctr" indent="0" marL="0">
              <a:buNone/>
            </a:pPr>
            <a:r>
              <a:rPr lang="en-US" sz="2800" b="1" dirty="0">
                <a:solidFill>
                  <a:schemeClr val="bg1"/>
                </a:solidFill>
                <a:latin typeface="+mj-lt" pitchFamily="34" charset="0"/>
                <a:ea typeface="+mj-lt" pitchFamily="34" charset="-122"/>
                <a:cs typeface="+mj-lt" pitchFamily="34" charset="-120"/>
              </a:rPr>
              <a:t>PAN</a:t>
            </a:r>
            <a:endParaRPr lang="en-US" sz="2800" dirty="0"/>
          </a:p>
        </p:txBody>
      </p:sp>
      <p:sp>
        <p:nvSpPr>
          <p:cNvPr id="20" name="Text 18"/>
          <p:cNvSpPr txBox="1"/>
          <p:nvPr/>
        </p:nvSpPr>
        <p:spPr>
          <a:xfrm>
            <a:off x="8412480" y="3749040"/>
            <a:ext cx="2971800" cy="457200"/>
          </a:xfrm>
          <a:prstGeom prst="rect">
            <a:avLst/>
          </a:prstGeom>
          <a:noFill/>
          <a:ln/>
        </p:spPr>
        <p:txBody>
          <a:bodyPr wrap="square" lIns="0" tIns="0" rIns="0" bIns="0" rtlCol="0" anchor="ctr"/>
          <a:lstStyle/>
          <a:p>
            <a:pPr algn="ctr" indent="0" marL="0">
              <a:buNone/>
            </a:pPr>
            <a:r>
              <a:rPr lang="en-US" sz="2000" b="1" dirty="0">
                <a:solidFill>
                  <a:schemeClr val="tx1"/>
                </a:solidFill>
              </a:rPr>
              <a:t>Papa Abdoulaye NDIAYE</a:t>
            </a:r>
            <a:endParaRPr lang="en-US" sz="2000" dirty="0"/>
          </a:p>
        </p:txBody>
      </p:sp>
      <p:sp>
        <p:nvSpPr>
          <p:cNvPr id="21" name="Text 19"/>
          <p:cNvSpPr txBox="1"/>
          <p:nvPr/>
        </p:nvSpPr>
        <p:spPr>
          <a:xfrm>
            <a:off x="8412480" y="4251960"/>
            <a:ext cx="2971800" cy="685800"/>
          </a:xfrm>
          <a:prstGeom prst="rect">
            <a:avLst/>
          </a:prstGeom>
          <a:noFill/>
          <a:ln/>
        </p:spPr>
        <p:txBody>
          <a:bodyPr wrap="square" lIns="0" tIns="0" rIns="0" bIns="0" rtlCol="0" anchor="t"/>
          <a:lstStyle/>
          <a:p>
            <a:pPr algn="ctr" indent="0" marL="0">
              <a:buNone/>
            </a:pPr>
            <a:r>
              <a:rPr lang="en-US" sz="1500" dirty="0">
                <a:solidFill>
                  <a:schemeClr val="accent4"/>
                </a:solidFill>
              </a:rPr>
              <a:t>Computer Scientist</a:t>
            </a:r>
            <a:endParaRPr lang="en-US" sz="1500" dirty="0"/>
          </a:p>
        </p:txBody>
      </p:sp>
      <p:sp>
        <p:nvSpPr>
          <p:cNvPr id="22" name="role-PAN"/>
          <p:cNvSpPr/>
          <p:nvPr/>
        </p:nvSpPr>
        <p:spPr>
          <a:xfrm>
            <a:off x="9166860" y="5074920"/>
            <a:ext cx="1463040" cy="411480"/>
          </a:xfrm>
          <a:prstGeom prst="roundRect">
            <a:avLst>
              <a:gd name="adj" fmla="val 48889"/>
            </a:avLst>
          </a:prstGeom>
          <a:solidFill>
            <a:schemeClr val="accent5"/>
          </a:solidFill>
          <a:ln/>
        </p:spPr>
      </p:sp>
      <p:sp>
        <p:nvSpPr>
          <p:cNvPr id="23" name="Text 21"/>
          <p:cNvSpPr txBox="1"/>
          <p:nvPr/>
        </p:nvSpPr>
        <p:spPr>
          <a:xfrm>
            <a:off x="9166860" y="5074920"/>
            <a:ext cx="1463040" cy="411480"/>
          </a:xfrm>
          <a:prstGeom prst="rect">
            <a:avLst/>
          </a:prstGeom>
          <a:noFill/>
          <a:ln/>
        </p:spPr>
        <p:txBody>
          <a:bodyPr wrap="square" lIns="0" tIns="0" rIns="0" bIns="0" rtlCol="0" anchor="ctr"/>
          <a:lstStyle/>
          <a:p>
            <a:pPr algn="ctr" indent="0" marL="0">
              <a:buNone/>
            </a:pPr>
            <a:r>
              <a:rPr lang="en-US" sz="1400" b="1" dirty="0">
                <a:solidFill>
                  <a:schemeClr val="tx2"/>
                </a:solidFill>
              </a:rPr>
              <a:t>Tech</a:t>
            </a:r>
            <a:endParaRPr lang="en-US" sz="1400" dirty="0"/>
          </a:p>
        </p:txBody>
      </p:sp>
      <p:sp>
        <p:nvSpPr>
          <p:cNvPr id="25" name="Slide Number Placeholder 0"/>
          <p:cNvSpPr>
            <a:spLocks noGrp="1"/>
          </p:cNvSpPr>
          <p:nvPr>
            <p:ph type="sldNum" sz="quarter" idx="4294967295"/>
          </p:nvPr>
        </p:nvSpPr>
        <p:spPr>
          <a:xfrm>
            <a:off x="11094415" y="6309360"/>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5B6B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1188720"/>
          </a:xfrm>
          <a:prstGeom prst="rect">
            <a:avLst/>
          </a:prstGeom>
          <a:noFill/>
          <a:ln/>
        </p:spPr>
        <p:txBody>
          <a:bodyPr wrap="square" lIns="0" tIns="0" rIns="0" bIns="0" rtlCol="0" anchor="t"/>
          <a:lstStyle/>
          <a:p>
            <a:pPr algn="l" indent="0" marL="0">
              <a:buNone/>
            </a:pPr>
            <a:r>
              <a:rPr lang="en-US" sz="3400" b="1" dirty="0">
                <a:solidFill>
                  <a:schemeClr val="bg1"/>
                </a:solidFill>
              </a:rPr>
              <a:t>25 M FCFA pour passer du prototype au pilote</a:t>
            </a:r>
            <a:endParaRPr lang="en-US" sz="3400" dirty="0"/>
          </a:p>
        </p:txBody>
      </p:sp>
      <p:graphicFrame>
        <p:nvGraphicFramePr>
          <p:cNvPr id="3" name="graphique-fonds" descr=""/>
          <p:cNvGraphicFramePr/>
          <p:nvPr/>
        </p:nvGraphicFramePr>
        <p:xfrm>
          <a:off x="548640" y="1783080"/>
          <a:ext cx="356616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3063240"/>
            <a:ext cx="3566160" cy="594360"/>
          </a:xfrm>
          <a:prstGeom prst="rect">
            <a:avLst/>
          </a:prstGeom>
          <a:noFill/>
          <a:ln/>
        </p:spPr>
        <p:txBody>
          <a:bodyPr wrap="square" lIns="0" tIns="0" rIns="0" bIns="0" rtlCol="0" anchor="ctr"/>
          <a:lstStyle/>
          <a:p>
            <a:pPr algn="ctr" indent="0" marL="0">
              <a:buNone/>
            </a:pPr>
            <a:r>
              <a:rPr lang="en-US" sz="3200" b="1" dirty="0">
                <a:solidFill>
                  <a:schemeClr val="bg1"/>
                </a:solidFill>
                <a:latin typeface="+mj-lt" pitchFamily="34" charset="0"/>
                <a:ea typeface="+mj-lt" pitchFamily="34" charset="-122"/>
                <a:cs typeface="+mj-lt" pitchFamily="34" charset="-120"/>
              </a:rPr>
              <a:t>25 M</a:t>
            </a:r>
            <a:endParaRPr lang="en-US" sz="3200" dirty="0"/>
          </a:p>
        </p:txBody>
      </p:sp>
      <p:sp>
        <p:nvSpPr>
          <p:cNvPr id="5" name="Text 2"/>
          <p:cNvSpPr txBox="1"/>
          <p:nvPr/>
        </p:nvSpPr>
        <p:spPr>
          <a:xfrm>
            <a:off x="548640" y="3611880"/>
            <a:ext cx="3566160" cy="365760"/>
          </a:xfrm>
          <a:prstGeom prst="rect">
            <a:avLst/>
          </a:prstGeom>
          <a:noFill/>
          <a:ln/>
        </p:spPr>
        <p:txBody>
          <a:bodyPr wrap="square" lIns="0" tIns="0" rIns="0" bIns="0" rtlCol="0" anchor="ctr"/>
          <a:lstStyle/>
          <a:p>
            <a:pPr algn="ctr" indent="0" marL="0">
              <a:buNone/>
            </a:pPr>
            <a:r>
              <a:rPr lang="en-US" sz="1400" dirty="0">
                <a:solidFill>
                  <a:schemeClr val="accent5"/>
                </a:solidFill>
              </a:rPr>
              <a:t>FCFA · 12 mois</a:t>
            </a:r>
            <a:endParaRPr lang="en-US" sz="1400" dirty="0"/>
          </a:p>
        </p:txBody>
      </p:sp>
      <p:sp>
        <p:nvSpPr>
          <p:cNvPr id="6" name="legende-1"/>
          <p:cNvSpPr/>
          <p:nvPr/>
        </p:nvSpPr>
        <p:spPr>
          <a:xfrm>
            <a:off x="4434840" y="2450592"/>
            <a:ext cx="256032" cy="256032"/>
          </a:xfrm>
          <a:prstGeom prst="ellipse">
            <a:avLst/>
          </a:prstGeom>
          <a:solidFill>
            <a:srgbClr val="F2A93B"/>
          </a:solidFill>
          <a:ln/>
        </p:spPr>
      </p:sp>
      <p:sp>
        <p:nvSpPr>
          <p:cNvPr id="7" name="Text 4"/>
          <p:cNvSpPr txBox="1"/>
          <p:nvPr/>
        </p:nvSpPr>
        <p:spPr>
          <a:xfrm>
            <a:off x="4846320" y="2331720"/>
            <a:ext cx="868680" cy="502920"/>
          </a:xfrm>
          <a:prstGeom prst="rect">
            <a:avLst/>
          </a:prstGeom>
          <a:noFill/>
          <a:ln/>
        </p:spPr>
        <p:txBody>
          <a:bodyPr wrap="square" lIns="0" tIns="0" rIns="0" bIns="0" rtlCol="0" anchor="ctr"/>
          <a:lstStyle/>
          <a:p>
            <a:pPr indent="0" marL="0">
              <a:buNone/>
            </a:pPr>
            <a:r>
              <a:rPr lang="en-US" sz="1800" b="1" dirty="0">
                <a:solidFill>
                  <a:schemeClr val="bg1"/>
                </a:solidFill>
              </a:rPr>
              <a:t>40 %</a:t>
            </a:r>
            <a:endParaRPr lang="en-US" sz="1800" dirty="0"/>
          </a:p>
        </p:txBody>
      </p:sp>
      <p:sp>
        <p:nvSpPr>
          <p:cNvPr id="8" name="Text 5"/>
          <p:cNvSpPr txBox="1"/>
          <p:nvPr/>
        </p:nvSpPr>
        <p:spPr>
          <a:xfrm>
            <a:off x="5715000" y="2331720"/>
            <a:ext cx="2103120" cy="502920"/>
          </a:xfrm>
          <a:prstGeom prst="rect">
            <a:avLst/>
          </a:prstGeom>
          <a:noFill/>
          <a:ln/>
        </p:spPr>
        <p:txBody>
          <a:bodyPr wrap="square" lIns="0" tIns="0" rIns="0" bIns="0" rtlCol="0" anchor="ctr"/>
          <a:lstStyle/>
          <a:p>
            <a:pPr indent="0" marL="0">
              <a:buNone/>
            </a:pPr>
            <a:r>
              <a:rPr lang="en-US" sz="1500" dirty="0">
                <a:solidFill>
                  <a:schemeClr val="bg1"/>
                </a:solidFill>
              </a:rPr>
              <a:t>Produit et IA</a:t>
            </a:r>
            <a:endParaRPr lang="en-US" sz="1500" dirty="0"/>
          </a:p>
        </p:txBody>
      </p:sp>
      <p:sp>
        <p:nvSpPr>
          <p:cNvPr id="9" name="legende-2"/>
          <p:cNvSpPr/>
          <p:nvPr/>
        </p:nvSpPr>
        <p:spPr>
          <a:xfrm>
            <a:off x="4434840" y="3136392"/>
            <a:ext cx="256032" cy="256032"/>
          </a:xfrm>
          <a:prstGeom prst="ellipse">
            <a:avLst/>
          </a:prstGeom>
          <a:solidFill>
            <a:srgbClr val="3CCB9F"/>
          </a:solidFill>
          <a:ln/>
        </p:spPr>
      </p:sp>
      <p:sp>
        <p:nvSpPr>
          <p:cNvPr id="10" name="Text 7"/>
          <p:cNvSpPr txBox="1"/>
          <p:nvPr/>
        </p:nvSpPr>
        <p:spPr>
          <a:xfrm>
            <a:off x="4846320" y="3017520"/>
            <a:ext cx="868680" cy="502920"/>
          </a:xfrm>
          <a:prstGeom prst="rect">
            <a:avLst/>
          </a:prstGeom>
          <a:noFill/>
          <a:ln/>
        </p:spPr>
        <p:txBody>
          <a:bodyPr wrap="square" lIns="0" tIns="0" rIns="0" bIns="0" rtlCol="0" anchor="ctr"/>
          <a:lstStyle/>
          <a:p>
            <a:pPr indent="0" marL="0">
              <a:buNone/>
            </a:pPr>
            <a:r>
              <a:rPr lang="en-US" sz="1800" b="1" dirty="0">
                <a:solidFill>
                  <a:schemeClr val="bg1"/>
                </a:solidFill>
              </a:rPr>
              <a:t>30 %</a:t>
            </a:r>
            <a:endParaRPr lang="en-US" sz="1800" dirty="0"/>
          </a:p>
        </p:txBody>
      </p:sp>
      <p:sp>
        <p:nvSpPr>
          <p:cNvPr id="11" name="Text 8"/>
          <p:cNvSpPr txBox="1"/>
          <p:nvPr/>
        </p:nvSpPr>
        <p:spPr>
          <a:xfrm>
            <a:off x="5715000" y="3017520"/>
            <a:ext cx="2103120" cy="502920"/>
          </a:xfrm>
          <a:prstGeom prst="rect">
            <a:avLst/>
          </a:prstGeom>
          <a:noFill/>
          <a:ln/>
        </p:spPr>
        <p:txBody>
          <a:bodyPr wrap="square" lIns="0" tIns="0" rIns="0" bIns="0" rtlCol="0" anchor="ctr"/>
          <a:lstStyle/>
          <a:p>
            <a:pPr indent="0" marL="0">
              <a:buNone/>
            </a:pPr>
            <a:r>
              <a:rPr lang="en-US" sz="1500" dirty="0">
                <a:solidFill>
                  <a:schemeClr val="bg1"/>
                </a:solidFill>
              </a:rPr>
              <a:t>Pilotes terrain</a:t>
            </a:r>
            <a:endParaRPr lang="en-US" sz="1500" dirty="0"/>
          </a:p>
        </p:txBody>
      </p:sp>
      <p:sp>
        <p:nvSpPr>
          <p:cNvPr id="12" name="legende-3"/>
          <p:cNvSpPr/>
          <p:nvPr/>
        </p:nvSpPr>
        <p:spPr>
          <a:xfrm>
            <a:off x="4434840" y="3822192"/>
            <a:ext cx="256032" cy="256032"/>
          </a:xfrm>
          <a:prstGeom prst="ellipse">
            <a:avLst/>
          </a:prstGeom>
          <a:solidFill>
            <a:srgbClr val="CFE9E0"/>
          </a:solidFill>
          <a:ln/>
        </p:spPr>
      </p:sp>
      <p:sp>
        <p:nvSpPr>
          <p:cNvPr id="13" name="Text 10"/>
          <p:cNvSpPr txBox="1"/>
          <p:nvPr/>
        </p:nvSpPr>
        <p:spPr>
          <a:xfrm>
            <a:off x="4846320" y="3703320"/>
            <a:ext cx="868680" cy="502920"/>
          </a:xfrm>
          <a:prstGeom prst="rect">
            <a:avLst/>
          </a:prstGeom>
          <a:noFill/>
          <a:ln/>
        </p:spPr>
        <p:txBody>
          <a:bodyPr wrap="square" lIns="0" tIns="0" rIns="0" bIns="0" rtlCol="0" anchor="ctr"/>
          <a:lstStyle/>
          <a:p>
            <a:pPr indent="0" marL="0">
              <a:buNone/>
            </a:pPr>
            <a:r>
              <a:rPr lang="en-US" sz="1800" b="1" dirty="0">
                <a:solidFill>
                  <a:schemeClr val="bg1"/>
                </a:solidFill>
              </a:rPr>
              <a:t>15 %</a:t>
            </a:r>
            <a:endParaRPr lang="en-US" sz="1800" dirty="0"/>
          </a:p>
        </p:txBody>
      </p:sp>
      <p:sp>
        <p:nvSpPr>
          <p:cNvPr id="14" name="Text 11"/>
          <p:cNvSpPr txBox="1"/>
          <p:nvPr/>
        </p:nvSpPr>
        <p:spPr>
          <a:xfrm>
            <a:off x="5715000" y="3703320"/>
            <a:ext cx="2103120" cy="502920"/>
          </a:xfrm>
          <a:prstGeom prst="rect">
            <a:avLst/>
          </a:prstGeom>
          <a:noFill/>
          <a:ln/>
        </p:spPr>
        <p:txBody>
          <a:bodyPr wrap="square" lIns="0" tIns="0" rIns="0" bIns="0" rtlCol="0" anchor="ctr"/>
          <a:lstStyle/>
          <a:p>
            <a:pPr indent="0" marL="0">
              <a:buNone/>
            </a:pPr>
            <a:r>
              <a:rPr lang="en-US" sz="1500" dirty="0">
                <a:solidFill>
                  <a:schemeClr val="bg1"/>
                </a:solidFill>
              </a:rPr>
              <a:t>Conformité données</a:t>
            </a:r>
            <a:endParaRPr lang="en-US" sz="1500" dirty="0"/>
          </a:p>
        </p:txBody>
      </p:sp>
      <p:sp>
        <p:nvSpPr>
          <p:cNvPr id="15" name="legende-4"/>
          <p:cNvSpPr/>
          <p:nvPr/>
        </p:nvSpPr>
        <p:spPr>
          <a:xfrm>
            <a:off x="4434840" y="4507992"/>
            <a:ext cx="256032" cy="256032"/>
          </a:xfrm>
          <a:prstGeom prst="ellipse">
            <a:avLst/>
          </a:prstGeom>
          <a:solidFill>
            <a:srgbClr val="7FA79A"/>
          </a:solidFill>
          <a:ln/>
        </p:spPr>
      </p:sp>
      <p:sp>
        <p:nvSpPr>
          <p:cNvPr id="16" name="Text 13"/>
          <p:cNvSpPr txBox="1"/>
          <p:nvPr/>
        </p:nvSpPr>
        <p:spPr>
          <a:xfrm>
            <a:off x="4846320" y="4389120"/>
            <a:ext cx="868680" cy="502920"/>
          </a:xfrm>
          <a:prstGeom prst="rect">
            <a:avLst/>
          </a:prstGeom>
          <a:noFill/>
          <a:ln/>
        </p:spPr>
        <p:txBody>
          <a:bodyPr wrap="square" lIns="0" tIns="0" rIns="0" bIns="0" rtlCol="0" anchor="ctr"/>
          <a:lstStyle/>
          <a:p>
            <a:pPr indent="0" marL="0">
              <a:buNone/>
            </a:pPr>
            <a:r>
              <a:rPr lang="en-US" sz="1800" b="1" dirty="0">
                <a:solidFill>
                  <a:schemeClr val="bg1"/>
                </a:solidFill>
              </a:rPr>
              <a:t>15 %</a:t>
            </a:r>
            <a:endParaRPr lang="en-US" sz="1800" dirty="0"/>
          </a:p>
        </p:txBody>
      </p:sp>
      <p:sp>
        <p:nvSpPr>
          <p:cNvPr id="17" name="Text 14"/>
          <p:cNvSpPr txBox="1"/>
          <p:nvPr/>
        </p:nvSpPr>
        <p:spPr>
          <a:xfrm>
            <a:off x="5715000" y="4389120"/>
            <a:ext cx="2103120" cy="502920"/>
          </a:xfrm>
          <a:prstGeom prst="rect">
            <a:avLst/>
          </a:prstGeom>
          <a:noFill/>
          <a:ln/>
        </p:spPr>
        <p:txBody>
          <a:bodyPr wrap="square" lIns="0" tIns="0" rIns="0" bIns="0" rtlCol="0" anchor="ctr"/>
          <a:lstStyle/>
          <a:p>
            <a:pPr indent="0" marL="0">
              <a:buNone/>
            </a:pPr>
            <a:r>
              <a:rPr lang="en-US" sz="1500" dirty="0">
                <a:solidFill>
                  <a:schemeClr val="bg1"/>
                </a:solidFill>
              </a:rPr>
              <a:t>Infrastructure</a:t>
            </a:r>
            <a:endParaRPr lang="en-US" sz="1500" dirty="0"/>
          </a:p>
        </p:txBody>
      </p:sp>
      <p:sp>
        <p:nvSpPr>
          <p:cNvPr id="18" name="Text 15"/>
          <p:cNvSpPr txBox="1"/>
          <p:nvPr/>
        </p:nvSpPr>
        <p:spPr>
          <a:xfrm>
            <a:off x="8229600" y="1828800"/>
            <a:ext cx="3383280" cy="411480"/>
          </a:xfrm>
          <a:prstGeom prst="rect">
            <a:avLst/>
          </a:prstGeom>
          <a:noFill/>
          <a:ln/>
        </p:spPr>
        <p:txBody>
          <a:bodyPr wrap="square" lIns="0" tIns="0" rIns="0" bIns="0" rtlCol="0" anchor="ctr"/>
          <a:lstStyle/>
          <a:p>
            <a:pPr indent="0" marL="0">
              <a:buNone/>
            </a:pPr>
            <a:r>
              <a:rPr lang="en-US" sz="1800" b="1" dirty="0">
                <a:solidFill>
                  <a:schemeClr val="accent2"/>
                </a:solidFill>
              </a:rPr>
              <a:t>Jalons</a:t>
            </a:r>
            <a:endParaRPr lang="en-US" sz="1800" dirty="0"/>
          </a:p>
        </p:txBody>
      </p:sp>
      <p:sp>
        <p:nvSpPr>
          <p:cNvPr id="19" name="jalon-M3"/>
          <p:cNvSpPr/>
          <p:nvPr/>
        </p:nvSpPr>
        <p:spPr>
          <a:xfrm>
            <a:off x="8229600" y="2423160"/>
            <a:ext cx="868680" cy="566928"/>
          </a:xfrm>
          <a:prstGeom prst="roundRect">
            <a:avLst>
              <a:gd name="adj" fmla="val 19355"/>
            </a:avLst>
          </a:prstGeom>
          <a:solidFill>
            <a:schemeClr val="bg1">
              <a:alpha val="12000"/>
            </a:schemeClr>
          </a:solidFill>
          <a:ln w="12700">
            <a:solidFill>
              <a:schemeClr val="accent5"/>
            </a:solidFill>
            <a:prstDash val="solid"/>
          </a:ln>
        </p:spPr>
      </p:sp>
      <p:sp>
        <p:nvSpPr>
          <p:cNvPr id="20" name="Text 17"/>
          <p:cNvSpPr txBox="1"/>
          <p:nvPr/>
        </p:nvSpPr>
        <p:spPr>
          <a:xfrm>
            <a:off x="8229600" y="2423160"/>
            <a:ext cx="868680" cy="566928"/>
          </a:xfrm>
          <a:prstGeom prst="rect">
            <a:avLst/>
          </a:prstGeom>
          <a:noFill/>
          <a:ln/>
        </p:spPr>
        <p:txBody>
          <a:bodyPr wrap="square" lIns="0" tIns="0" rIns="0" bIns="0" rtlCol="0" anchor="ctr"/>
          <a:lstStyle/>
          <a:p>
            <a:pPr algn="ctr" indent="0" marL="0">
              <a:buNone/>
            </a:pPr>
            <a:r>
              <a:rPr lang="en-US" sz="1600" b="1" dirty="0">
                <a:solidFill>
                  <a:schemeClr val="bg1"/>
                </a:solidFill>
              </a:rPr>
              <a:t>M3</a:t>
            </a:r>
            <a:endParaRPr lang="en-US" sz="1600" dirty="0"/>
          </a:p>
        </p:txBody>
      </p:sp>
      <p:sp>
        <p:nvSpPr>
          <p:cNvPr id="21" name="Text 18"/>
          <p:cNvSpPr txBox="1"/>
          <p:nvPr/>
        </p:nvSpPr>
        <p:spPr>
          <a:xfrm>
            <a:off x="9281160" y="2423160"/>
            <a:ext cx="2377440" cy="566928"/>
          </a:xfrm>
          <a:prstGeom prst="rect">
            <a:avLst/>
          </a:prstGeom>
          <a:noFill/>
          <a:ln/>
        </p:spPr>
        <p:txBody>
          <a:bodyPr wrap="square" lIns="0" tIns="0" rIns="0" bIns="0" rtlCol="0" anchor="ctr"/>
          <a:lstStyle/>
          <a:p>
            <a:pPr indent="0" marL="0">
              <a:buNone/>
            </a:pPr>
            <a:r>
              <a:rPr lang="en-US" sz="1600" dirty="0">
                <a:solidFill>
                  <a:schemeClr val="bg1"/>
                </a:solidFill>
              </a:rPr>
              <a:t>Pilote IMF</a:t>
            </a:r>
            <a:endParaRPr lang="en-US" sz="1600" dirty="0"/>
          </a:p>
        </p:txBody>
      </p:sp>
      <p:sp>
        <p:nvSpPr>
          <p:cNvPr id="22" name="jalon-M6"/>
          <p:cNvSpPr/>
          <p:nvPr/>
        </p:nvSpPr>
        <p:spPr>
          <a:xfrm>
            <a:off x="8229600" y="3337560"/>
            <a:ext cx="868680" cy="566928"/>
          </a:xfrm>
          <a:prstGeom prst="roundRect">
            <a:avLst>
              <a:gd name="adj" fmla="val 19355"/>
            </a:avLst>
          </a:prstGeom>
          <a:solidFill>
            <a:schemeClr val="bg1">
              <a:alpha val="12000"/>
            </a:schemeClr>
          </a:solidFill>
          <a:ln w="12700">
            <a:solidFill>
              <a:schemeClr val="accent5"/>
            </a:solidFill>
            <a:prstDash val="solid"/>
          </a:ln>
        </p:spPr>
      </p:sp>
      <p:sp>
        <p:nvSpPr>
          <p:cNvPr id="23" name="Text 20"/>
          <p:cNvSpPr txBox="1"/>
          <p:nvPr/>
        </p:nvSpPr>
        <p:spPr>
          <a:xfrm>
            <a:off x="8229600" y="3337560"/>
            <a:ext cx="868680" cy="566928"/>
          </a:xfrm>
          <a:prstGeom prst="rect">
            <a:avLst/>
          </a:prstGeom>
          <a:noFill/>
          <a:ln/>
        </p:spPr>
        <p:txBody>
          <a:bodyPr wrap="square" lIns="0" tIns="0" rIns="0" bIns="0" rtlCol="0" anchor="ctr"/>
          <a:lstStyle/>
          <a:p>
            <a:pPr algn="ctr" indent="0" marL="0">
              <a:buNone/>
            </a:pPr>
            <a:r>
              <a:rPr lang="en-US" sz="1600" b="1" dirty="0">
                <a:solidFill>
                  <a:schemeClr val="bg1"/>
                </a:solidFill>
              </a:rPr>
              <a:t>M6</a:t>
            </a:r>
            <a:endParaRPr lang="en-US" sz="1600" dirty="0"/>
          </a:p>
        </p:txBody>
      </p:sp>
      <p:sp>
        <p:nvSpPr>
          <p:cNvPr id="24" name="Text 21"/>
          <p:cNvSpPr txBox="1"/>
          <p:nvPr/>
        </p:nvSpPr>
        <p:spPr>
          <a:xfrm>
            <a:off x="9281160" y="3337560"/>
            <a:ext cx="2377440" cy="566928"/>
          </a:xfrm>
          <a:prstGeom prst="rect">
            <a:avLst/>
          </a:prstGeom>
          <a:noFill/>
          <a:ln/>
        </p:spPr>
        <p:txBody>
          <a:bodyPr wrap="square" lIns="0" tIns="0" rIns="0" bIns="0" rtlCol="0" anchor="ctr"/>
          <a:lstStyle/>
          <a:p>
            <a:pPr indent="0" marL="0">
              <a:buNone/>
            </a:pPr>
            <a:r>
              <a:rPr lang="en-US" sz="1600" dirty="0">
                <a:solidFill>
                  <a:schemeClr val="bg1"/>
                </a:solidFill>
              </a:rPr>
              <a:t>1 000 utilisateurs</a:t>
            </a:r>
            <a:endParaRPr lang="en-US" sz="1600" dirty="0"/>
          </a:p>
        </p:txBody>
      </p:sp>
      <p:sp>
        <p:nvSpPr>
          <p:cNvPr id="25" name="jalon-M12"/>
          <p:cNvSpPr/>
          <p:nvPr/>
        </p:nvSpPr>
        <p:spPr>
          <a:xfrm>
            <a:off x="8229600" y="4251960"/>
            <a:ext cx="868680" cy="566928"/>
          </a:xfrm>
          <a:prstGeom prst="roundRect">
            <a:avLst>
              <a:gd name="adj" fmla="val 19355"/>
            </a:avLst>
          </a:prstGeom>
          <a:solidFill>
            <a:schemeClr val="bg1">
              <a:alpha val="12000"/>
            </a:schemeClr>
          </a:solidFill>
          <a:ln w="12700">
            <a:solidFill>
              <a:schemeClr val="accent5"/>
            </a:solidFill>
            <a:prstDash val="solid"/>
          </a:ln>
        </p:spPr>
      </p:sp>
      <p:sp>
        <p:nvSpPr>
          <p:cNvPr id="26" name="Text 23"/>
          <p:cNvSpPr txBox="1"/>
          <p:nvPr/>
        </p:nvSpPr>
        <p:spPr>
          <a:xfrm>
            <a:off x="8229600" y="4251960"/>
            <a:ext cx="868680" cy="566928"/>
          </a:xfrm>
          <a:prstGeom prst="rect">
            <a:avLst/>
          </a:prstGeom>
          <a:noFill/>
          <a:ln/>
        </p:spPr>
        <p:txBody>
          <a:bodyPr wrap="square" lIns="0" tIns="0" rIns="0" bIns="0" rtlCol="0" anchor="ctr"/>
          <a:lstStyle/>
          <a:p>
            <a:pPr algn="ctr" indent="0" marL="0">
              <a:buNone/>
            </a:pPr>
            <a:r>
              <a:rPr lang="en-US" sz="1600" b="1" dirty="0">
                <a:solidFill>
                  <a:schemeClr val="bg1"/>
                </a:solidFill>
              </a:rPr>
              <a:t>M12</a:t>
            </a:r>
            <a:endParaRPr lang="en-US" sz="1600" dirty="0"/>
          </a:p>
        </p:txBody>
      </p:sp>
      <p:sp>
        <p:nvSpPr>
          <p:cNvPr id="27" name="Text 24"/>
          <p:cNvSpPr txBox="1"/>
          <p:nvPr/>
        </p:nvSpPr>
        <p:spPr>
          <a:xfrm>
            <a:off x="9281160" y="4251960"/>
            <a:ext cx="2377440" cy="566928"/>
          </a:xfrm>
          <a:prstGeom prst="rect">
            <a:avLst/>
          </a:prstGeom>
          <a:noFill/>
          <a:ln/>
        </p:spPr>
        <p:txBody>
          <a:bodyPr wrap="square" lIns="0" tIns="0" rIns="0" bIns="0" rtlCol="0" anchor="ctr"/>
          <a:lstStyle/>
          <a:p>
            <a:pPr indent="0" marL="0">
              <a:buNone/>
            </a:pPr>
            <a:r>
              <a:rPr lang="en-US" sz="1600" dirty="0">
                <a:solidFill>
                  <a:schemeClr val="bg1"/>
                </a:solidFill>
              </a:rPr>
              <a:t>3 partenaires payants</a:t>
            </a:r>
            <a:endParaRPr lang="en-US" sz="1600" dirty="0"/>
          </a:p>
        </p:txBody>
      </p:sp>
      <p:sp>
        <p:nvSpPr>
          <p:cNvPr id="28" name="bandeau-contact"/>
          <p:cNvSpPr/>
          <p:nvPr/>
        </p:nvSpPr>
        <p:spPr>
          <a:xfrm>
            <a:off x="548640" y="5532120"/>
            <a:ext cx="11094415" cy="566928"/>
          </a:xfrm>
          <a:prstGeom prst="roundRect">
            <a:avLst>
              <a:gd name="adj" fmla="val 50000"/>
            </a:avLst>
          </a:prstGeom>
          <a:solidFill>
            <a:schemeClr val="bg1">
              <a:alpha val="10000"/>
            </a:schemeClr>
          </a:solidFill>
          <a:ln/>
        </p:spPr>
      </p:sp>
      <p:pic>
        <p:nvPicPr>
          <p:cNvPr id="29" name="icone-github" descr="C:\Users\DELL\AppData\Local\Temp\claude\c--MesProjets-Woolu-AI\8d19d69f-7b2a-4c76-a2dd-ac8270f9cd4f\scratchpad\deck\assets\i-githubLogo-w.png">    </p:cNvPr>
          <p:cNvPicPr>
            <a:picLocks noChangeAspect="1"/>
          </p:cNvPicPr>
          <p:nvPr/>
        </p:nvPicPr>
        <p:blipFill>
          <a:blip r:embed="rId2"/>
          <a:stretch>
            <a:fillRect/>
          </a:stretch>
        </p:blipFill>
        <p:spPr>
          <a:xfrm>
            <a:off x="777240" y="5632704"/>
            <a:ext cx="365760" cy="365760"/>
          </a:xfrm>
          <a:prstGeom prst="rect">
            <a:avLst/>
          </a:prstGeom>
        </p:spPr>
      </p:pic>
      <p:sp>
        <p:nvSpPr>
          <p:cNvPr id="30" name="Text 26">
            <a:hlinkClick r:id="rId3" tooltip=""/>
          </p:cNvPr>
          <p:cNvSpPr txBox="1"/>
          <p:nvPr/>
        </p:nvSpPr>
        <p:spPr>
          <a:xfrm>
            <a:off x="1280160" y="5532120"/>
            <a:ext cx="5486400" cy="566928"/>
          </a:xfrm>
          <a:prstGeom prst="rect">
            <a:avLst/>
          </a:prstGeom>
          <a:noFill/>
          <a:ln/>
        </p:spPr>
        <p:txBody>
          <a:bodyPr wrap="square" lIns="0" tIns="0" rIns="0" bIns="0" rtlCol="0" anchor="ctr"/>
          <a:lstStyle/>
          <a:p>
            <a:pPr indent="0" marL="0">
              <a:buNone/>
            </a:pPr>
            <a:r>
              <a:rPr lang="en-US" sz="1700" b="1" u="sng" dirty="0">
                <a:solidFill>
                  <a:schemeClr val="bg1"/>
                </a:solidFill>
                <a:hlinkClick r:id="rId3" invalidUrl="" action="" tgtFrame="" tooltip="" history="1" highlightClick="0" endSnd="0">
                  <a:extLst>
                    <a:ext uri="{A12FA001-AC4F-418D-AE19-62706E023703}">
                      <ahyp:hlinkClr xmlns:ahyp="http://schemas.microsoft.com/office/drawing/2018/hyperlinkcolor" val="tx"/>
                    </a:ext>
                  </a:extLst>
                </a:hlinkClick>
              </a:rPr>
              <a:t>github.com/harounambaye/Woolu-AI</a:t>
            </a:r>
            <a:endParaRPr lang="en-US" sz="1700" dirty="0"/>
          </a:p>
        </p:txBody>
      </p:sp>
      <p:sp>
        <p:nvSpPr>
          <p:cNvPr id="31" name="Text 27"/>
          <p:cNvSpPr txBox="1"/>
          <p:nvPr/>
        </p:nvSpPr>
        <p:spPr>
          <a:xfrm>
            <a:off x="6583680" y="5532120"/>
            <a:ext cx="4846320" cy="566928"/>
          </a:xfrm>
          <a:prstGeom prst="rect">
            <a:avLst/>
          </a:prstGeom>
          <a:noFill/>
          <a:ln/>
        </p:spPr>
        <p:txBody>
          <a:bodyPr wrap="square" lIns="0" tIns="0" rIns="0" bIns="0" rtlCol="0" anchor="ctr"/>
          <a:lstStyle/>
          <a:p>
            <a:pPr algn="r" indent="0" marL="0">
              <a:buNone/>
            </a:pPr>
            <a:r>
              <a:rPr lang="en-US" sz="1500" dirty="0">
                <a:solidFill>
                  <a:schemeClr val="accent2"/>
                </a:solidFill>
                <a:latin typeface="+mj-lt" pitchFamily="34" charset="0"/>
                <a:ea typeface="+mj-lt" pitchFamily="34" charset="-122"/>
                <a:cs typeface="+mj-lt" pitchFamily="34" charset="-120"/>
              </a:rPr>
              <a:t>Comprendre. Sécuriser. Résoudre.</a:t>
            </a:r>
            <a:endParaRPr lang="en-US" sz="1500" dirty="0"/>
          </a:p>
        </p:txBody>
      </p:sp>
      <p:sp>
        <p:nvSpPr>
          <p:cNvPr id="25" name="Slide Number Placeholder 0"/>
          <p:cNvSpPr>
            <a:spLocks noGrp="1"/>
          </p:cNvSpPr>
          <p:nvPr>
            <p:ph type="sldNum" sz="quarter" idx="4294967295"/>
          </p:nvPr>
        </p:nvSpPr>
        <p:spPr>
          <a:xfrm>
            <a:off x="11094415" y="6309360"/>
            <a:ext cx="548640" cy="310896"/>
          </a:xfrm>
          <a:prstGeom prst="rect">
            <a:avLst/>
          </a:prstGeom>
          <a:extLst>
            <a:ext uri="{C572A759-6A51-4108-AA02-DFA0A04FC94B}">
              <ma14:wrappingTextBoxFlag xmlns:ma14="http://schemas.microsoft.com/office/mac/drawingml/2011/main" val="0"/>
            </a:ext>
          </a:extLst>
        </p:spPr>
        <p:txBody>
          <a:bodyPr/>
          <a:lstStyle>
            <a:lvl1pPr>
              <a:defRPr sz="1100">
                <a:solidFill>
                  <a:srgbClr val="CFE9E0"/>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Woolu AI">
  <a:themeElements>
    <a:clrScheme name="Woolu AI">
      <a:dk1>
        <a:srgbClr val="0F1B2D"/>
      </a:dk1>
      <a:lt1>
        <a:srgbClr val="FFFFFF"/>
      </a:lt1>
      <a:dk2>
        <a:srgbClr val="064538"/>
      </a:dk2>
      <a:lt2>
        <a:srgbClr val="F3F6F4"/>
      </a:lt2>
      <a:accent1>
        <a:srgbClr val="0B7A63"/>
      </a:accent1>
      <a:accent2>
        <a:srgbClr val="F2A93B"/>
      </a:accent2>
      <a:accent3>
        <a:srgbClr val="E5484D"/>
      </a:accent3>
      <a:accent4>
        <a:srgbClr val="5B6B7A"/>
      </a:accent4>
      <a:accent5>
        <a:srgbClr val="CFE9E0"/>
      </a:accent5>
      <a:accent6>
        <a:srgbClr val="3CCB9F"/>
      </a:accent6>
      <a:hlink>
        <a:srgbClr val="0B7A63"/>
      </a:hlink>
      <a:folHlink>
        <a:srgbClr val="064538"/>
      </a:folHlink>
    </a:clrScheme>
    <a:fontScheme name="Woolu AI">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Woolu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Woolu AI — Pitch</dc:title>
  <dc:subject>PptxGenJS Presentation</dc:subject>
  <dc:creator>Harouna MBAYE, Khadija NGOM, Papa Abdoulaye NDIAYE</dc:creator>
  <cp:lastModifiedBy>Harouna MBAYE, Khadija NGOM, Papa Abdoulaye NDIAYE</cp:lastModifiedBy>
  <cp:revision>1</cp:revision>
  <dcterms:created xsi:type="dcterms:W3CDTF">2026-10-29T17:16:24Z</dcterms:created>
  <dcterms:modified xsi:type="dcterms:W3CDTF">2026-10-29T17:16:24Z</dcterms:modified>
</cp:coreProperties>
</file>